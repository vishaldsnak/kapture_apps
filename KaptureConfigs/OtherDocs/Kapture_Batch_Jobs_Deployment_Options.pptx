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94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1404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agree how the 8 migrated batch jobs are deployed and scheduled on MC Dev, MC QA and PROD. Three options are on the table; the deck compares them and recommends one.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jobs are already migrated and packaged. What is open is where they run and who schedules them.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 1 keeps everything inside Kapture, but every batch change becomes a kAuthor API release, owned by another team's code base and release cycle.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 2 is what the packages are built for today. The open points are infrastructure ones: server, OS user, install folder, JDK 25 and the crontab entries.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 3 gives the business screens without touching kAuthor, MDM or DMT, because it only starts the existing packages. The cost is a new application to build, secure and run in every environment.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Shaded cells mark the strongest option per criterion (ties are both shaded). Option 1 is never the strongest. Option 3 matches Option 2 on change effort and isolation and adds screens, but it is a new application to build; Option 2 is the only option ready now.</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Recommendation: Option 2 now. It is deployable today, isolates each job, and does not tie batch changes to kAuthor, MDM or DMT releases. If the business wants screens, the new scheduler web app (Option 3) can follow as phase 2 and start the same packages.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Steps 1 and 2 need the Kapture / Infra team. Steps 3 and 4 are ours once the server is confirmed.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Option badge 1"/>
          <p:cNvSpPr/>
          <p:nvPr/>
        </p:nvSpPr>
        <p:spPr>
          <a:xfrm>
            <a:off x="8503920" y="1097280"/>
            <a:ext cx="822960" cy="822960"/>
          </a:xfrm>
          <a:prstGeom prst="ellipse">
            <a:avLst/>
          </a:prstGeom>
          <a:solidFill>
            <a:srgbClr val="22335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3000" b="1">
                <a:solidFill>
                  <a:srgbClr val="F2A65A"/>
                </a:solidFill>
                <a:latin typeface="Calibri"/>
              </a:rPr>
              <a:t>1</a:t>
            </a:r>
          </a:p>
        </p:txBody>
      </p:sp>
      <p:sp>
        <p:nvSpPr>
          <p:cNvPr id="3" name="Option badge 2"/>
          <p:cNvSpPr/>
          <p:nvPr/>
        </p:nvSpPr>
        <p:spPr>
          <a:xfrm>
            <a:off x="9555480" y="1097280"/>
            <a:ext cx="822960" cy="822960"/>
          </a:xfrm>
          <a:prstGeom prst="ellipse">
            <a:avLst/>
          </a:prstGeom>
          <a:solidFill>
            <a:srgbClr val="22335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3000" b="1">
                <a:solidFill>
                  <a:srgbClr val="F2A65A"/>
                </a:solidFill>
                <a:latin typeface="Calibri"/>
              </a:rPr>
              <a:t>2</a:t>
            </a:r>
          </a:p>
        </p:txBody>
      </p:sp>
      <p:sp>
        <p:nvSpPr>
          <p:cNvPr id="4" name="Option badge 3"/>
          <p:cNvSpPr/>
          <p:nvPr/>
        </p:nvSpPr>
        <p:spPr>
          <a:xfrm>
            <a:off x="10607040" y="1097280"/>
            <a:ext cx="822960" cy="822960"/>
          </a:xfrm>
          <a:prstGeom prst="ellipse">
            <a:avLst/>
          </a:prstGeom>
          <a:solidFill>
            <a:srgbClr val="22335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3000" b="1">
                <a:solidFill>
                  <a:srgbClr val="F2A65A"/>
                </a:solidFill>
                <a:latin typeface="Calibri"/>
              </a:rPr>
              <a:t>3</a:t>
            </a:r>
          </a:p>
        </p:txBody>
      </p:sp>
      <p:sp>
        <p:nvSpPr>
          <p:cNvPr id="5" name="Eyebrow"/>
          <p:cNvSpPr txBox="1"/>
          <p:nvPr/>
        </p:nvSpPr>
        <p:spPr>
          <a:xfrm>
            <a:off x="548640" y="1143000"/>
            <a:ext cx="7315200" cy="365760"/>
          </a:xfrm>
          <a:prstGeom prst="rect">
            <a:avLst/>
          </a:prstGeom>
          <a:noFill/>
        </p:spPr>
        <p:txBody>
          <a:bodyPr wrap="square" lIns="0" tIns="0" rIns="0" bIns="0" anchor="t">
            <a:spAutoFit/>
          </a:bodyPr>
          <a:lstStyle/>
          <a:p>
            <a:pPr algn="l">
              <a:spcAft>
                <a:spcPts val="0"/>
              </a:spcAft>
            </a:pPr>
            <a:r>
              <a:rPr sz="1600" b="1" i="0">
                <a:solidFill>
                  <a:srgbClr val="F2A65A"/>
                </a:solidFill>
                <a:latin typeface="Calibri"/>
              </a:rPr>
              <a:t>KAPTURE MIGRATION</a:t>
            </a:r>
          </a:p>
        </p:txBody>
      </p:sp>
      <p:sp>
        <p:nvSpPr>
          <p:cNvPr id="6" name="Cover title"/>
          <p:cNvSpPr txBox="1"/>
          <p:nvPr/>
        </p:nvSpPr>
        <p:spPr>
          <a:xfrm>
            <a:off x="548640" y="2103120"/>
            <a:ext cx="10515600" cy="2011680"/>
          </a:xfrm>
          <a:prstGeom prst="rect">
            <a:avLst/>
          </a:prstGeom>
          <a:noFill/>
        </p:spPr>
        <p:txBody>
          <a:bodyPr wrap="square" lIns="0" tIns="0" rIns="0" bIns="0" anchor="t">
            <a:spAutoFit/>
          </a:bodyPr>
          <a:lstStyle/>
          <a:p>
            <a:pPr algn="l">
              <a:spcAft>
                <a:spcPts val="0"/>
              </a:spcAft>
            </a:pPr>
            <a:r>
              <a:rPr sz="5400" b="1" i="0">
                <a:solidFill>
                  <a:srgbClr val="FFFFFF"/>
                </a:solidFill>
                <a:latin typeface="Calibri"/>
              </a:rPr>
              <a:t>Batch jobs:</a:t>
            </a:r>
          </a:p>
          <a:p>
            <a:pPr algn="l">
              <a:spcAft>
                <a:spcPts val="0"/>
              </a:spcAft>
            </a:pPr>
            <a:r>
              <a:rPr sz="5400" b="1" i="0">
                <a:solidFill>
                  <a:srgbClr val="FFFFFF"/>
                </a:solidFill>
                <a:latin typeface="Calibri"/>
              </a:rPr>
              <a:t>three ways to deploy</a:t>
            </a:r>
          </a:p>
        </p:txBody>
      </p:sp>
      <p:sp>
        <p:nvSpPr>
          <p:cNvPr id="7" name="Cover subtitle"/>
          <p:cNvSpPr txBox="1"/>
          <p:nvPr/>
        </p:nvSpPr>
        <p:spPr>
          <a:xfrm>
            <a:off x="548640" y="4343400"/>
            <a:ext cx="9601200" cy="1005840"/>
          </a:xfrm>
          <a:prstGeom prst="rect">
            <a:avLst/>
          </a:prstGeom>
          <a:noFill/>
        </p:spPr>
        <p:txBody>
          <a:bodyPr wrap="square" lIns="0" tIns="0" rIns="0" bIns="0" anchor="t">
            <a:spAutoFit/>
          </a:bodyPr>
          <a:lstStyle/>
          <a:p>
            <a:pPr algn="l">
              <a:spcAft>
                <a:spcPts val="0"/>
              </a:spcAft>
            </a:pPr>
            <a:r>
              <a:rPr sz="2000" b="0" i="0">
                <a:solidFill>
                  <a:srgbClr val="C9D3E3"/>
                </a:solidFill>
                <a:latin typeface="Calibri"/>
              </a:rPr>
              <a:t>The 8 jobs that replace the InfoManager custom batch jobs: three ways to deploy and schedule them, with pros, cons and a recommendation</a:t>
            </a:r>
          </a:p>
        </p:txBody>
      </p:sp>
      <p:sp>
        <p:nvSpPr>
          <p:cNvPr id="8" name="Date"/>
          <p:cNvSpPr txBox="1"/>
          <p:nvPr/>
        </p:nvSpPr>
        <p:spPr>
          <a:xfrm>
            <a:off x="548640" y="6126480"/>
            <a:ext cx="5486400" cy="320040"/>
          </a:xfrm>
          <a:prstGeom prst="rect">
            <a:avLst/>
          </a:prstGeom>
          <a:noFill/>
        </p:spPr>
        <p:txBody>
          <a:bodyPr wrap="square" lIns="0" tIns="0" rIns="0" bIns="0" anchor="t">
            <a:spAutoFit/>
          </a:bodyPr>
          <a:lstStyle/>
          <a:p>
            <a:pPr algn="l">
              <a:spcAft>
                <a:spcPts val="0"/>
              </a:spcAft>
            </a:pPr>
            <a:r>
              <a:rPr sz="1400" b="0" i="0">
                <a:solidFill>
                  <a:srgbClr val="C9D3E3"/>
                </a:solidFill>
                <a:latin typeface="Calibri"/>
              </a:rPr>
              <a:t>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7200"/>
            <a:ext cx="11094415" cy="731520"/>
          </a:xfrm>
          <a:prstGeom prst="rect">
            <a:avLst/>
          </a:prstGeom>
          <a:noFill/>
        </p:spPr>
        <p:txBody>
          <a:bodyPr wrap="square" lIns="0" tIns="0" rIns="0" bIns="0" anchor="ctr">
            <a:spAutoFit/>
          </a:bodyPr>
          <a:lstStyle/>
          <a:p>
            <a:pPr algn="l">
              <a:spcAft>
                <a:spcPts val="0"/>
              </a:spcAft>
            </a:pPr>
            <a:r>
              <a:rPr sz="3400" b="1" i="0">
                <a:solidFill>
                  <a:srgbClr val="14213D"/>
                </a:solidFill>
                <a:latin typeface="Calibri"/>
              </a:rPr>
              <a:t>What we are deploying</a:t>
            </a:r>
          </a:p>
        </p:txBody>
      </p:sp>
      <p:sp>
        <p:nvSpPr>
          <p:cNvPr id="3" name="Big number"/>
          <p:cNvSpPr txBox="1"/>
          <p:nvPr/>
        </p:nvSpPr>
        <p:spPr>
          <a:xfrm>
            <a:off x="548640" y="1463040"/>
            <a:ext cx="3474720" cy="1371600"/>
          </a:xfrm>
          <a:prstGeom prst="rect">
            <a:avLst/>
          </a:prstGeom>
          <a:noFill/>
        </p:spPr>
        <p:txBody>
          <a:bodyPr wrap="square" lIns="0" tIns="0" rIns="0" bIns="0" anchor="t">
            <a:spAutoFit/>
          </a:bodyPr>
          <a:lstStyle/>
          <a:p>
            <a:pPr algn="l">
              <a:spcAft>
                <a:spcPts val="0"/>
              </a:spcAft>
            </a:pPr>
            <a:r>
              <a:rPr sz="9600" b="1" i="0">
                <a:solidFill>
                  <a:srgbClr val="C8551E"/>
                </a:solidFill>
                <a:latin typeface="Calibri"/>
              </a:rPr>
              <a:t>8</a:t>
            </a:r>
          </a:p>
        </p:txBody>
      </p:sp>
      <p:sp>
        <p:nvSpPr>
          <p:cNvPr id="4" name="Big number label"/>
          <p:cNvSpPr txBox="1"/>
          <p:nvPr/>
        </p:nvSpPr>
        <p:spPr>
          <a:xfrm>
            <a:off x="548640" y="2834640"/>
            <a:ext cx="3474720" cy="822960"/>
          </a:xfrm>
          <a:prstGeom prst="rect">
            <a:avLst/>
          </a:prstGeom>
          <a:noFill/>
        </p:spPr>
        <p:txBody>
          <a:bodyPr wrap="square" lIns="0" tIns="0" rIns="0" bIns="0" anchor="t">
            <a:spAutoFit/>
          </a:bodyPr>
          <a:lstStyle/>
          <a:p>
            <a:pPr algn="l">
              <a:spcAft>
                <a:spcPts val="0"/>
              </a:spcAft>
            </a:pPr>
            <a:r>
              <a:rPr sz="1800" b="1" i="0">
                <a:solidFill>
                  <a:srgbClr val="14213D"/>
                </a:solidFill>
                <a:latin typeface="Calibri"/>
              </a:rPr>
              <a:t>batch jobs replace the InfoManager custom batch jobs</a:t>
            </a:r>
          </a:p>
        </p:txBody>
      </p:sp>
      <p:sp>
        <p:nvSpPr>
          <p:cNvPr id="5" name="Fact badge 1"/>
          <p:cNvSpPr/>
          <p:nvPr/>
        </p:nvSpPr>
        <p:spPr>
          <a:xfrm>
            <a:off x="548640" y="3822192"/>
            <a:ext cx="329184" cy="329184"/>
          </a:xfrm>
          <a:prstGeom prst="ellipse">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1F5FA8"/>
                </a:solidFill>
                <a:latin typeface="Calibri"/>
              </a:rPr>
              <a:t>1</a:t>
            </a:r>
          </a:p>
        </p:txBody>
      </p:sp>
      <p:sp>
        <p:nvSpPr>
          <p:cNvPr id="6" name="Fact 1"/>
          <p:cNvSpPr txBox="1"/>
          <p:nvPr/>
        </p:nvSpPr>
        <p:spPr>
          <a:xfrm>
            <a:off x="1005840" y="3794760"/>
            <a:ext cx="3291840" cy="685800"/>
          </a:xfrm>
          <a:prstGeom prst="rect">
            <a:avLst/>
          </a:prstGeom>
          <a:noFill/>
        </p:spPr>
        <p:txBody>
          <a:bodyPr wrap="square" lIns="0" tIns="0" rIns="0" bIns="0" anchor="t">
            <a:spAutoFit/>
          </a:bodyPr>
          <a:lstStyle/>
          <a:p>
            <a:pPr algn="l">
              <a:spcAft>
                <a:spcPts val="0"/>
              </a:spcAft>
            </a:pPr>
            <a:r>
              <a:rPr sz="1400" b="0" i="0">
                <a:solidFill>
                  <a:srgbClr val="4A5568"/>
                </a:solidFill>
                <a:latin typeface="Calibri"/>
              </a:rPr>
              <a:t>One package per job: jar, configuration file, run script and README</a:t>
            </a:r>
          </a:p>
        </p:txBody>
      </p:sp>
      <p:sp>
        <p:nvSpPr>
          <p:cNvPr id="7" name="Fact badge 2"/>
          <p:cNvSpPr/>
          <p:nvPr/>
        </p:nvSpPr>
        <p:spPr>
          <a:xfrm>
            <a:off x="548640" y="4599432"/>
            <a:ext cx="329184" cy="329184"/>
          </a:xfrm>
          <a:prstGeom prst="ellipse">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1F5FA8"/>
                </a:solidFill>
                <a:latin typeface="Calibri"/>
              </a:rPr>
              <a:t>2</a:t>
            </a:r>
          </a:p>
        </p:txBody>
      </p:sp>
      <p:sp>
        <p:nvSpPr>
          <p:cNvPr id="8" name="Fact 2"/>
          <p:cNvSpPr txBox="1"/>
          <p:nvPr/>
        </p:nvSpPr>
        <p:spPr>
          <a:xfrm>
            <a:off x="1005840" y="4572000"/>
            <a:ext cx="3291840" cy="685800"/>
          </a:xfrm>
          <a:prstGeom prst="rect">
            <a:avLst/>
          </a:prstGeom>
          <a:noFill/>
        </p:spPr>
        <p:txBody>
          <a:bodyPr wrap="square" lIns="0" tIns="0" rIns="0" bIns="0" anchor="t">
            <a:spAutoFit/>
          </a:bodyPr>
          <a:lstStyle/>
          <a:p>
            <a:pPr algn="l">
              <a:spcAft>
                <a:spcPts val="0"/>
              </a:spcAft>
            </a:pPr>
            <a:r>
              <a:rPr sz="1400" b="0" i="0">
                <a:solidFill>
                  <a:srgbClr val="4A5568"/>
                </a:solidFill>
                <a:latin typeface="Calibri"/>
              </a:rPr>
              <a:t>Every run recorded in kapture_dc (KM_CUSTOM_BATCH_* run history tables)</a:t>
            </a:r>
          </a:p>
        </p:txBody>
      </p:sp>
      <p:sp>
        <p:nvSpPr>
          <p:cNvPr id="9" name="Fact badge 3"/>
          <p:cNvSpPr/>
          <p:nvPr/>
        </p:nvSpPr>
        <p:spPr>
          <a:xfrm>
            <a:off x="548640" y="5376672"/>
            <a:ext cx="329184" cy="329184"/>
          </a:xfrm>
          <a:prstGeom prst="ellipse">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1F5FA8"/>
                </a:solidFill>
                <a:latin typeface="Calibri"/>
              </a:rPr>
              <a:t>3</a:t>
            </a:r>
          </a:p>
        </p:txBody>
      </p:sp>
      <p:sp>
        <p:nvSpPr>
          <p:cNvPr id="10" name="Fact 3"/>
          <p:cNvSpPr txBox="1"/>
          <p:nvPr/>
        </p:nvSpPr>
        <p:spPr>
          <a:xfrm>
            <a:off x="1005840" y="5349240"/>
            <a:ext cx="3291840" cy="685800"/>
          </a:xfrm>
          <a:prstGeom prst="rect">
            <a:avLst/>
          </a:prstGeom>
          <a:noFill/>
        </p:spPr>
        <p:txBody>
          <a:bodyPr wrap="square" lIns="0" tIns="0" rIns="0" bIns="0" anchor="t">
            <a:spAutoFit/>
          </a:bodyPr>
          <a:lstStyle/>
          <a:p>
            <a:pPr algn="l">
              <a:spcAft>
                <a:spcPts val="0"/>
              </a:spcAft>
            </a:pPr>
            <a:r>
              <a:rPr sz="1400" b="0" i="0">
                <a:solidFill>
                  <a:srgbClr val="4A5568"/>
                </a:solidFill>
                <a:latin typeface="Calibri"/>
              </a:rPr>
              <a:t>Report and mail per run, as in InfoManager</a:t>
            </a:r>
          </a:p>
        </p:txBody>
      </p:sp>
      <p:graphicFrame>
        <p:nvGraphicFramePr>
          <p:cNvPr id="11" name="Table 10"/>
          <p:cNvGraphicFramePr>
            <a:graphicFrameLocks noGrp="1"/>
          </p:cNvGraphicFramePr>
          <p:nvPr/>
        </p:nvGraphicFramePr>
        <p:xfrm>
          <a:off x="4480560" y="1463040"/>
          <a:ext cx="7162495" cy="4273296"/>
        </p:xfrm>
        <a:graphic>
          <a:graphicData uri="http://schemas.openxmlformats.org/drawingml/2006/table">
            <a:tbl>
              <a:tblPr firstRow="1">
                <a:tableStyleId>{5C22544A-7EE6-4342-B048-85BDC9FD1C3A}</a:tableStyleId>
              </a:tblPr>
              <a:tblGrid>
                <a:gridCol w="2926080">
                  <a:extLst>
                    <a:ext uri="{9D8B030D-6E8A-4147-A177-3AD203B41FA5}">
                      <a16:colId xmlns:a16="http://schemas.microsoft.com/office/drawing/2014/main" val="20000"/>
                    </a:ext>
                  </a:extLst>
                </a:gridCol>
                <a:gridCol w="4236415">
                  <a:extLst>
                    <a:ext uri="{9D8B030D-6E8A-4147-A177-3AD203B41FA5}">
                      <a16:colId xmlns:a16="http://schemas.microsoft.com/office/drawing/2014/main" val="20001"/>
                    </a:ext>
                  </a:extLst>
                </a:gridCol>
              </a:tblGrid>
              <a:tr h="457200">
                <a:tc>
                  <a:txBody>
                    <a:bodyPr/>
                    <a:lstStyle/>
                    <a:p>
                      <a:r>
                        <a:rPr sz="1400" b="1">
                          <a:solidFill>
                            <a:srgbClr val="FFFFFF"/>
                          </a:solidFill>
                          <a:latin typeface="Calibri"/>
                        </a:rPr>
                        <a:t>Job</a:t>
                      </a:r>
                    </a:p>
                  </a:txBody>
                  <a:tcPr marL="109728" marR="109728" marT="54864" marB="54864" anchor="ctr">
                    <a:solidFill>
                      <a:srgbClr val="14213D"/>
                    </a:solidFill>
                  </a:tcPr>
                </a:tc>
                <a:tc>
                  <a:txBody>
                    <a:bodyPr/>
                    <a:lstStyle/>
                    <a:p>
                      <a:r>
                        <a:rPr sz="1400" b="1">
                          <a:solidFill>
                            <a:srgbClr val="FFFFFF"/>
                          </a:solidFill>
                          <a:latin typeface="Calibri"/>
                        </a:rPr>
                        <a:t>What it does</a:t>
                      </a:r>
                    </a:p>
                  </a:txBody>
                  <a:tcPr marL="109728" marR="109728" marT="54864" marB="54864" anchor="ctr">
                    <a:solidFill>
                      <a:srgbClr val="14213D"/>
                    </a:solidFill>
                  </a:tcPr>
                </a:tc>
                <a:extLst>
                  <a:ext uri="{0D108BD9-81ED-4DB2-BD59-A6C34878D82A}">
                    <a16:rowId xmlns:a16="http://schemas.microsoft.com/office/drawing/2014/main" val="10000"/>
                  </a:ext>
                </a:extLst>
              </a:tr>
              <a:tr h="457200">
                <a:tc>
                  <a:txBody>
                    <a:bodyPr/>
                    <a:lstStyle/>
                    <a:p>
                      <a:r>
                        <a:rPr sz="1400" b="1">
                          <a:solidFill>
                            <a:srgbClr val="14213D"/>
                          </a:solidFill>
                          <a:latin typeface="Calibri"/>
                        </a:rPr>
                        <a:t>RUM VIN Mapping</a:t>
                      </a:r>
                    </a:p>
                  </a:txBody>
                  <a:tcPr marL="109728" marR="109728" marT="54864" marB="54864" anchor="ctr">
                    <a:solidFill>
                      <a:srgbClr val="FFFFFF"/>
                    </a:solidFill>
                  </a:tcPr>
                </a:tc>
                <a:tc>
                  <a:txBody>
                    <a:bodyPr/>
                    <a:lstStyle/>
                    <a:p>
                      <a:r>
                        <a:rPr sz="1400" b="0">
                          <a:solidFill>
                            <a:srgbClr val="4A5568"/>
                          </a:solidFill>
                          <a:latin typeface="Calibri"/>
                        </a:rPr>
                        <a:t>Runs daily; processing switched off, as in InfoManager</a:t>
                      </a:r>
                    </a:p>
                  </a:txBody>
                  <a:tcPr marL="109728" marR="109728" marT="54864" marB="54864" anchor="ctr">
                    <a:solidFill>
                      <a:srgbClr val="FFFFFF"/>
                    </a:solidFill>
                  </a:tcPr>
                </a:tc>
                <a:extLst>
                  <a:ext uri="{0D108BD9-81ED-4DB2-BD59-A6C34878D82A}">
                    <a16:rowId xmlns:a16="http://schemas.microsoft.com/office/drawing/2014/main" val="10001"/>
                  </a:ext>
                </a:extLst>
              </a:tr>
              <a:tr h="457200">
                <a:tc>
                  <a:txBody>
                    <a:bodyPr/>
                    <a:lstStyle/>
                    <a:p>
                      <a:r>
                        <a:rPr sz="1400" b="1">
                          <a:solidFill>
                            <a:srgbClr val="14213D"/>
                          </a:solidFill>
                          <a:latin typeface="Calibri"/>
                        </a:rPr>
                        <a:t>MME VC ESI Labels Update</a:t>
                      </a:r>
                    </a:p>
                  </a:txBody>
                  <a:tcPr marL="109728" marR="109728" marT="54864" marB="54864" anchor="ctr">
                    <a:solidFill>
                      <a:srgbClr val="F4F5F7"/>
                    </a:solidFill>
                  </a:tcPr>
                </a:tc>
                <a:tc>
                  <a:txBody>
                    <a:bodyPr/>
                    <a:lstStyle/>
                    <a:p>
                      <a:r>
                        <a:rPr sz="1400" b="0">
                          <a:solidFill>
                            <a:srgbClr val="4A5568"/>
                          </a:solidFill>
                          <a:latin typeface="Calibri"/>
                        </a:rPr>
                        <a:t>Repairs MME View Content ESI labels from the MDM master</a:t>
                      </a:r>
                    </a:p>
                  </a:txBody>
                  <a:tcPr marL="109728" marR="109728" marT="54864" marB="54864" anchor="ctr">
                    <a:solidFill>
                      <a:srgbClr val="F4F5F7"/>
                    </a:solidFill>
                  </a:tcPr>
                </a:tc>
                <a:extLst>
                  <a:ext uri="{0D108BD9-81ED-4DB2-BD59-A6C34878D82A}">
                    <a16:rowId xmlns:a16="http://schemas.microsoft.com/office/drawing/2014/main" val="10002"/>
                  </a:ext>
                </a:extLst>
              </a:tr>
              <a:tr h="457200">
                <a:tc>
                  <a:txBody>
                    <a:bodyPr/>
                    <a:lstStyle/>
                    <a:p>
                      <a:r>
                        <a:rPr sz="1400" b="1">
                          <a:solidFill>
                            <a:srgbClr val="14213D"/>
                          </a:solidFill>
                          <a:latin typeface="Calibri"/>
                        </a:rPr>
                        <a:t>Carline Notification</a:t>
                      </a:r>
                    </a:p>
                  </a:txBody>
                  <a:tcPr marL="109728" marR="109728" marT="54864" marB="54864" anchor="ctr">
                    <a:solidFill>
                      <a:srgbClr val="FFFFFF"/>
                    </a:solidFill>
                  </a:tcPr>
                </a:tc>
                <a:tc>
                  <a:txBody>
                    <a:bodyPr/>
                    <a:lstStyle/>
                    <a:p>
                      <a:r>
                        <a:rPr sz="1400" b="0">
                          <a:solidFill>
                            <a:srgbClr val="4A5568"/>
                          </a:solidFill>
                          <a:latin typeface="Calibri"/>
                        </a:rPr>
                        <a:t>Mails document owners when a new carline is available</a:t>
                      </a:r>
                    </a:p>
                  </a:txBody>
                  <a:tcPr marL="109728" marR="109728" marT="54864" marB="54864" anchor="ctr">
                    <a:solidFill>
                      <a:srgbClr val="FFFFFF"/>
                    </a:solidFill>
                  </a:tcPr>
                </a:tc>
                <a:extLst>
                  <a:ext uri="{0D108BD9-81ED-4DB2-BD59-A6C34878D82A}">
                    <a16:rowId xmlns:a16="http://schemas.microsoft.com/office/drawing/2014/main" val="10003"/>
                  </a:ext>
                </a:extLst>
              </a:tr>
              <a:tr h="457200">
                <a:tc>
                  <a:txBody>
                    <a:bodyPr/>
                    <a:lstStyle/>
                    <a:p>
                      <a:r>
                        <a:rPr sz="1400" b="1">
                          <a:solidFill>
                            <a:srgbClr val="14213D"/>
                          </a:solidFill>
                          <a:latin typeface="Calibri"/>
                        </a:rPr>
                        <a:t>SI Inner Links Identification</a:t>
                      </a:r>
                    </a:p>
                  </a:txBody>
                  <a:tcPr marL="109728" marR="109728" marT="54864" marB="54864" anchor="ctr">
                    <a:solidFill>
                      <a:srgbClr val="F4F5F7"/>
                    </a:solidFill>
                  </a:tcPr>
                </a:tc>
                <a:tc>
                  <a:txBody>
                    <a:bodyPr/>
                    <a:lstStyle/>
                    <a:p>
                      <a:r>
                        <a:rPr sz="1400" b="0">
                          <a:solidFill>
                            <a:srgbClr val="4A5568"/>
                          </a:solidFill>
                          <a:latin typeface="Calibri"/>
                        </a:rPr>
                        <a:t>Reports links that point to unpublished documents</a:t>
                      </a:r>
                    </a:p>
                  </a:txBody>
                  <a:tcPr marL="109728" marR="109728" marT="54864" marB="54864" anchor="ctr">
                    <a:solidFill>
                      <a:srgbClr val="F4F5F7"/>
                    </a:solidFill>
                  </a:tcPr>
                </a:tc>
                <a:extLst>
                  <a:ext uri="{0D108BD9-81ED-4DB2-BD59-A6C34878D82A}">
                    <a16:rowId xmlns:a16="http://schemas.microsoft.com/office/drawing/2014/main" val="10004"/>
                  </a:ext>
                </a:extLst>
              </a:tr>
              <a:tr h="457200">
                <a:tc>
                  <a:txBody>
                    <a:bodyPr/>
                    <a:lstStyle/>
                    <a:p>
                      <a:r>
                        <a:rPr sz="1400" b="1">
                          <a:solidFill>
                            <a:srgbClr val="14213D"/>
                          </a:solidFill>
                          <a:latin typeface="Calibri"/>
                        </a:rPr>
                        <a:t>View Content MC SI</a:t>
                      </a:r>
                    </a:p>
                  </a:txBody>
                  <a:tcPr marL="109728" marR="109728" marT="54864" marB="54864" anchor="ctr">
                    <a:solidFill>
                      <a:srgbClr val="FFFFFF"/>
                    </a:solidFill>
                  </a:tcPr>
                </a:tc>
                <a:tc>
                  <a:txBody>
                    <a:bodyPr/>
                    <a:lstStyle/>
                    <a:p>
                      <a:r>
                        <a:rPr sz="1400" b="0">
                          <a:solidFill>
                            <a:srgbClr val="4A5568"/>
                          </a:solidFill>
                          <a:latin typeface="Calibri"/>
                        </a:rPr>
                        <a:t>MC View Content rows (VIN) from published SI documents</a:t>
                      </a:r>
                    </a:p>
                  </a:txBody>
                  <a:tcPr marL="109728" marR="109728" marT="54864" marB="54864" anchor="ctr">
                    <a:solidFill>
                      <a:srgbClr val="FFFFFF"/>
                    </a:solidFill>
                  </a:tcPr>
                </a:tc>
                <a:extLst>
                  <a:ext uri="{0D108BD9-81ED-4DB2-BD59-A6C34878D82A}">
                    <a16:rowId xmlns:a16="http://schemas.microsoft.com/office/drawing/2014/main" val="10005"/>
                  </a:ext>
                </a:extLst>
              </a:tr>
              <a:tr h="457200">
                <a:tc>
                  <a:txBody>
                    <a:bodyPr/>
                    <a:lstStyle/>
                    <a:p>
                      <a:r>
                        <a:rPr sz="1400" b="1">
                          <a:solidFill>
                            <a:srgbClr val="14213D"/>
                          </a:solidFill>
                          <a:latin typeface="Calibri"/>
                        </a:rPr>
                        <a:t>View Content MNAO VIN SI</a:t>
                      </a:r>
                    </a:p>
                  </a:txBody>
                  <a:tcPr marL="109728" marR="109728" marT="54864" marB="54864" anchor="ctr">
                    <a:solidFill>
                      <a:srgbClr val="F4F5F7"/>
                    </a:solidFill>
                  </a:tcPr>
                </a:tc>
                <a:tc>
                  <a:txBody>
                    <a:bodyPr/>
                    <a:lstStyle/>
                    <a:p>
                      <a:r>
                        <a:rPr sz="1400" b="0">
                          <a:solidFill>
                            <a:srgbClr val="4A5568"/>
                          </a:solidFill>
                          <a:latin typeface="Calibri"/>
                        </a:rPr>
                        <a:t>MNAO View Content rows by VIN (SI + Accessories)</a:t>
                      </a:r>
                    </a:p>
                  </a:txBody>
                  <a:tcPr marL="109728" marR="109728" marT="54864" marB="54864" anchor="ctr">
                    <a:solidFill>
                      <a:srgbClr val="F4F5F7"/>
                    </a:solidFill>
                  </a:tcPr>
                </a:tc>
                <a:extLst>
                  <a:ext uri="{0D108BD9-81ED-4DB2-BD59-A6C34878D82A}">
                    <a16:rowId xmlns:a16="http://schemas.microsoft.com/office/drawing/2014/main" val="10006"/>
                  </a:ext>
                </a:extLst>
              </a:tr>
              <a:tr h="457200">
                <a:tc>
                  <a:txBody>
                    <a:bodyPr/>
                    <a:lstStyle/>
                    <a:p>
                      <a:r>
                        <a:rPr sz="1400" b="1">
                          <a:solidFill>
                            <a:srgbClr val="14213D"/>
                          </a:solidFill>
                          <a:latin typeface="Calibri"/>
                        </a:rPr>
                        <a:t>View Content MNAO Model Year SI</a:t>
                      </a:r>
                    </a:p>
                  </a:txBody>
                  <a:tcPr marL="109728" marR="109728" marT="54864" marB="54864" anchor="ctr">
                    <a:solidFill>
                      <a:srgbClr val="FFFFFF"/>
                    </a:solidFill>
                  </a:tcPr>
                </a:tc>
                <a:tc>
                  <a:txBody>
                    <a:bodyPr/>
                    <a:lstStyle/>
                    <a:p>
                      <a:r>
                        <a:rPr sz="1400" b="0">
                          <a:solidFill>
                            <a:srgbClr val="4A5568"/>
                          </a:solidFill>
                          <a:latin typeface="Calibri"/>
                        </a:rPr>
                        <a:t>MNAO View Content rows by model year</a:t>
                      </a:r>
                    </a:p>
                  </a:txBody>
                  <a:tcPr marL="109728" marR="109728" marT="54864" marB="54864" anchor="ctr">
                    <a:solidFill>
                      <a:srgbClr val="FFFFFF"/>
                    </a:solidFill>
                  </a:tcPr>
                </a:tc>
                <a:extLst>
                  <a:ext uri="{0D108BD9-81ED-4DB2-BD59-A6C34878D82A}">
                    <a16:rowId xmlns:a16="http://schemas.microsoft.com/office/drawing/2014/main" val="10007"/>
                  </a:ext>
                </a:extLst>
              </a:tr>
              <a:tr h="457200">
                <a:tc>
                  <a:txBody>
                    <a:bodyPr/>
                    <a:lstStyle/>
                    <a:p>
                      <a:r>
                        <a:rPr sz="1400" b="1">
                          <a:solidFill>
                            <a:srgbClr val="14213D"/>
                          </a:solidFill>
                          <a:latin typeface="Calibri"/>
                        </a:rPr>
                        <a:t>View Content MME</a:t>
                      </a:r>
                    </a:p>
                  </a:txBody>
                  <a:tcPr marL="109728" marR="109728" marT="54864" marB="54864" anchor="ctr">
                    <a:solidFill>
                      <a:srgbClr val="F4F5F7"/>
                    </a:solidFill>
                  </a:tcPr>
                </a:tc>
                <a:tc>
                  <a:txBody>
                    <a:bodyPr/>
                    <a:lstStyle/>
                    <a:p>
                      <a:r>
                        <a:rPr sz="1400" b="0">
                          <a:solidFill>
                            <a:srgbClr val="4A5568"/>
                          </a:solidFill>
                          <a:latin typeface="Calibri"/>
                        </a:rPr>
                        <a:t>MME View Content rows (SI + Videos, 39 locales)</a:t>
                      </a:r>
                    </a:p>
                  </a:txBody>
                  <a:tcPr marL="109728" marR="109728" marT="54864" marB="54864" anchor="ctr">
                    <a:solidFill>
                      <a:srgbClr val="F4F5F7"/>
                    </a:solidFill>
                  </a:tcPr>
                </a:tc>
                <a:extLst>
                  <a:ext uri="{0D108BD9-81ED-4DB2-BD59-A6C34878D82A}">
                    <a16:rowId xmlns:a16="http://schemas.microsoft.com/office/drawing/2014/main" val="10008"/>
                  </a:ext>
                </a:extLst>
              </a:tr>
            </a:tbl>
          </a:graphicData>
        </a:graphic>
      </p:graphicFrame>
      <p:sp>
        <p:nvSpPr>
          <p:cNvPr id="12" name="Footer"/>
          <p:cNvSpPr txBox="1"/>
          <p:nvPr/>
        </p:nvSpPr>
        <p:spPr>
          <a:xfrm>
            <a:off x="548640" y="6400800"/>
            <a:ext cx="8229600" cy="274320"/>
          </a:xfrm>
          <a:prstGeom prst="rect">
            <a:avLst/>
          </a:prstGeom>
          <a:noFill/>
        </p:spPr>
        <p:txBody>
          <a:bodyPr wrap="square" lIns="0" tIns="0" rIns="0" bIns="0" anchor="t">
            <a:spAutoFit/>
          </a:bodyPr>
          <a:lstStyle/>
          <a:p>
            <a:pPr algn="l">
              <a:spcAft>
                <a:spcPts val="0"/>
              </a:spcAft>
            </a:pPr>
            <a:r>
              <a:rPr sz="1100" b="0" i="0">
                <a:solidFill>
                  <a:srgbClr val="4A5568"/>
                </a:solidFill>
                <a:latin typeface="Calibri"/>
              </a:rPr>
              <a:t>Kapture Batch Jobs - Deployment Options</a:t>
            </a:r>
          </a:p>
        </p:txBody>
      </p:sp>
      <p:sp>
        <p:nvSpPr>
          <p:cNvPr id="13" name="Slide number"/>
          <p:cNvSpPr txBox="1"/>
          <p:nvPr/>
        </p:nvSpPr>
        <p:spPr>
          <a:xfrm>
            <a:off x="10728655" y="6400800"/>
            <a:ext cx="914400" cy="274320"/>
          </a:xfrm>
          <a:prstGeom prst="rect">
            <a:avLst/>
          </a:prstGeom>
          <a:noFill/>
        </p:spPr>
        <p:txBody>
          <a:bodyPr wrap="square" lIns="0" tIns="0" rIns="0" bIns="0" anchor="t">
            <a:spAutoFit/>
          </a:bodyPr>
          <a:lstStyle/>
          <a:p>
            <a:pPr algn="r">
              <a:spcAft>
                <a:spcPts val="0"/>
              </a:spcAft>
            </a:pPr>
            <a:r>
              <a:rPr sz="1100" b="0" i="0">
                <a:solidFill>
                  <a:srgbClr val="4A5568"/>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ption badge"/>
          <p:cNvSpPr/>
          <p:nvPr/>
        </p:nvSpPr>
        <p:spPr>
          <a:xfrm>
            <a:off x="548640" y="484632"/>
            <a:ext cx="685800" cy="6858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800" b="1">
                <a:solidFill>
                  <a:srgbClr val="FFFFFF"/>
                </a:solidFill>
                <a:latin typeface="Calibri"/>
              </a:rPr>
              <a:t>1</a:t>
            </a:r>
          </a:p>
        </p:txBody>
      </p:sp>
      <p:sp>
        <p:nvSpPr>
          <p:cNvPr id="3" name="Title"/>
          <p:cNvSpPr txBox="1"/>
          <p:nvPr/>
        </p:nvSpPr>
        <p:spPr>
          <a:xfrm>
            <a:off x="1417320" y="457200"/>
            <a:ext cx="10225735" cy="731520"/>
          </a:xfrm>
          <a:prstGeom prst="rect">
            <a:avLst/>
          </a:prstGeom>
          <a:noFill/>
        </p:spPr>
        <p:txBody>
          <a:bodyPr wrap="square" lIns="0" tIns="0" rIns="0" bIns="0" anchor="ctr">
            <a:spAutoFit/>
          </a:bodyPr>
          <a:lstStyle/>
          <a:p>
            <a:pPr algn="l">
              <a:spcAft>
                <a:spcPts val="0"/>
              </a:spcAft>
            </a:pPr>
            <a:r>
              <a:rPr sz="3400" b="1" i="0">
                <a:solidFill>
                  <a:srgbClr val="14213D"/>
                </a:solidFill>
                <a:latin typeface="Calibri"/>
              </a:rPr>
              <a:t>Merge into the kAuthor API web app</a:t>
            </a:r>
          </a:p>
        </p:txBody>
      </p:sp>
      <p:sp>
        <p:nvSpPr>
          <p:cNvPr id="4" name="Description"/>
          <p:cNvSpPr txBox="1"/>
          <p:nvPr/>
        </p:nvSpPr>
        <p:spPr>
          <a:xfrm>
            <a:off x="548640" y="1371600"/>
            <a:ext cx="11094415" cy="731520"/>
          </a:xfrm>
          <a:prstGeom prst="rect">
            <a:avLst/>
          </a:prstGeom>
          <a:noFill/>
        </p:spPr>
        <p:txBody>
          <a:bodyPr wrap="square" lIns="0" tIns="0" rIns="0" bIns="0" anchor="t">
            <a:spAutoFit/>
          </a:bodyPr>
          <a:lstStyle/>
          <a:p>
            <a:pPr algn="l">
              <a:spcAft>
                <a:spcPts val="0"/>
              </a:spcAft>
            </a:pPr>
            <a:r>
              <a:rPr sz="1700" b="0" i="0">
                <a:solidFill>
                  <a:srgbClr val="4A5568"/>
                </a:solidFill>
                <a:latin typeface="Calibri"/>
              </a:rPr>
              <a:t>Our batch code is merged into Kapture's kAuthor API code base and deployed with it; the jobs are configured and scheduled in the kAuthor tool.</a:t>
            </a:r>
          </a:p>
        </p:txBody>
      </p:sp>
      <p:sp>
        <p:nvSpPr>
          <p:cNvPr id="5" name="Pros card"/>
          <p:cNvSpPr/>
          <p:nvPr/>
        </p:nvSpPr>
        <p:spPr>
          <a:xfrm>
            <a:off x="548640" y="2286000"/>
            <a:ext cx="5410047" cy="38862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ros badge"/>
          <p:cNvSpPr/>
          <p:nvPr/>
        </p:nvSpPr>
        <p:spPr>
          <a:xfrm>
            <a:off x="868680" y="2542032"/>
            <a:ext cx="384048" cy="384048"/>
          </a:xfrm>
          <a:prstGeom prst="ellipse">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a:t>
            </a:r>
          </a:p>
        </p:txBody>
      </p:sp>
      <p:sp>
        <p:nvSpPr>
          <p:cNvPr id="7" name="Pros heading"/>
          <p:cNvSpPr txBox="1"/>
          <p:nvPr/>
        </p:nvSpPr>
        <p:spPr>
          <a:xfrm>
            <a:off x="1371600" y="2523744"/>
            <a:ext cx="4312767" cy="411480"/>
          </a:xfrm>
          <a:prstGeom prst="rect">
            <a:avLst/>
          </a:prstGeom>
          <a:noFill/>
        </p:spPr>
        <p:txBody>
          <a:bodyPr wrap="square" lIns="0" tIns="0" rIns="0" bIns="0" anchor="ctr">
            <a:spAutoFit/>
          </a:bodyPr>
          <a:lstStyle/>
          <a:p>
            <a:pPr algn="l">
              <a:spcAft>
                <a:spcPts val="0"/>
              </a:spcAft>
            </a:pPr>
            <a:r>
              <a:rPr sz="2000" b="1" i="0">
                <a:solidFill>
                  <a:srgbClr val="1F5FA8"/>
                </a:solidFill>
                <a:latin typeface="Calibri"/>
              </a:rPr>
              <a:t>Pros</a:t>
            </a:r>
          </a:p>
        </p:txBody>
      </p:sp>
      <p:sp>
        <p:nvSpPr>
          <p:cNvPr id="8" name="Pros list"/>
          <p:cNvSpPr txBox="1"/>
          <p:nvPr/>
        </p:nvSpPr>
        <p:spPr>
          <a:xfrm>
            <a:off x="868680" y="3154680"/>
            <a:ext cx="4769967" cy="2926080"/>
          </a:xfrm>
          <a:prstGeom prst="rect">
            <a:avLst/>
          </a:prstGeom>
          <a:noFill/>
        </p:spPr>
        <p:txBody>
          <a:bodyPr wrap="square" lIns="0" tIns="0" rIns="0" bIns="0">
            <a:spAutoFit/>
          </a:bodyPr>
          <a:lstStyle/>
          <a:p>
            <a:pPr marL="228600" indent="-228600">
              <a:spcAft>
                <a:spcPts val="900"/>
              </a:spcAft>
              <a:buClr>
                <a:srgbClr val="1F5FA8"/>
              </a:buClr>
              <a:buFont typeface="Arial"/>
              <a:buChar char="•"/>
            </a:pPr>
            <a:r>
              <a:rPr sz="1600">
                <a:solidFill>
                  <a:srgbClr val="1B2433"/>
                </a:solidFill>
                <a:latin typeface="Calibri"/>
              </a:rPr>
              <a:t>Jobs scheduled and monitored in the kAuthor tool, next to Kapture's own jobs</a:t>
            </a:r>
          </a:p>
          <a:p>
            <a:pPr marL="228600" indent="-228600">
              <a:spcAft>
                <a:spcPts val="900"/>
              </a:spcAft>
              <a:buClr>
                <a:srgbClr val="1F5FA8"/>
              </a:buClr>
              <a:buFont typeface="Arial"/>
              <a:buChar char="•"/>
            </a:pPr>
            <a:r>
              <a:rPr sz="1600">
                <a:solidFill>
                  <a:srgbClr val="1B2433"/>
                </a:solidFill>
                <a:latin typeface="Calibri"/>
              </a:rPr>
              <a:t>One deployment unit - no separate process on the server</a:t>
            </a:r>
          </a:p>
          <a:p>
            <a:pPr marL="228600" indent="-228600">
              <a:spcAft>
                <a:spcPts val="900"/>
              </a:spcAft>
              <a:buClr>
                <a:srgbClr val="1F5FA8"/>
              </a:buClr>
              <a:buFont typeface="Arial"/>
              <a:buChar char="•"/>
            </a:pPr>
            <a:r>
              <a:rPr sz="1600">
                <a:solidFill>
                  <a:srgbClr val="1B2433"/>
                </a:solidFill>
                <a:latin typeface="Calibri"/>
              </a:rPr>
              <a:t>Kapture team runs and supports the jobs day to day</a:t>
            </a:r>
          </a:p>
        </p:txBody>
      </p:sp>
      <p:sp>
        <p:nvSpPr>
          <p:cNvPr id="9" name="Cons card"/>
          <p:cNvSpPr/>
          <p:nvPr/>
        </p:nvSpPr>
        <p:spPr>
          <a:xfrm>
            <a:off x="6233007" y="2286000"/>
            <a:ext cx="5410047" cy="3886200"/>
          </a:xfrm>
          <a:prstGeom prst="roundRect">
            <a:avLst>
              <a:gd name="adj" fmla="val 4000"/>
            </a:avLst>
          </a:prstGeom>
          <a:solidFill>
            <a:srgbClr val="FC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ons badge"/>
          <p:cNvSpPr/>
          <p:nvPr/>
        </p:nvSpPr>
        <p:spPr>
          <a:xfrm>
            <a:off x="6553047" y="2542032"/>
            <a:ext cx="384048" cy="384048"/>
          </a:xfrm>
          <a:prstGeom prst="ellipse">
            <a:avLst/>
          </a:prstGeom>
          <a:solidFill>
            <a:srgbClr val="C8551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a:t>
            </a:r>
          </a:p>
        </p:txBody>
      </p:sp>
      <p:sp>
        <p:nvSpPr>
          <p:cNvPr id="11" name="Cons heading"/>
          <p:cNvSpPr txBox="1"/>
          <p:nvPr/>
        </p:nvSpPr>
        <p:spPr>
          <a:xfrm>
            <a:off x="7055967" y="2523744"/>
            <a:ext cx="4312767" cy="411480"/>
          </a:xfrm>
          <a:prstGeom prst="rect">
            <a:avLst/>
          </a:prstGeom>
          <a:noFill/>
        </p:spPr>
        <p:txBody>
          <a:bodyPr wrap="square" lIns="0" tIns="0" rIns="0" bIns="0" anchor="ctr">
            <a:spAutoFit/>
          </a:bodyPr>
          <a:lstStyle/>
          <a:p>
            <a:pPr algn="l">
              <a:spcAft>
                <a:spcPts val="0"/>
              </a:spcAft>
            </a:pPr>
            <a:r>
              <a:rPr sz="2000" b="1" i="0">
                <a:solidFill>
                  <a:srgbClr val="C8551E"/>
                </a:solidFill>
                <a:latin typeface="Calibri"/>
              </a:rPr>
              <a:t>Cons</a:t>
            </a:r>
          </a:p>
        </p:txBody>
      </p:sp>
      <p:sp>
        <p:nvSpPr>
          <p:cNvPr id="12" name="Cons list"/>
          <p:cNvSpPr txBox="1"/>
          <p:nvPr/>
        </p:nvSpPr>
        <p:spPr>
          <a:xfrm>
            <a:off x="6553047" y="3154680"/>
            <a:ext cx="4769967" cy="2926080"/>
          </a:xfrm>
          <a:prstGeom prst="rect">
            <a:avLst/>
          </a:prstGeom>
          <a:noFill/>
        </p:spPr>
        <p:txBody>
          <a:bodyPr wrap="square" lIns="0" tIns="0" rIns="0" bIns="0">
            <a:spAutoFit/>
          </a:bodyPr>
          <a:lstStyle/>
          <a:p>
            <a:pPr marL="228600" indent="-228600">
              <a:spcAft>
                <a:spcPts val="900"/>
              </a:spcAft>
              <a:buClr>
                <a:srgbClr val="C8551E"/>
              </a:buClr>
              <a:buFont typeface="Arial"/>
              <a:buChar char="•"/>
            </a:pPr>
            <a:r>
              <a:rPr sz="1600">
                <a:solidFill>
                  <a:srgbClr val="1B2433"/>
                </a:solidFill>
                <a:latin typeface="Calibri"/>
              </a:rPr>
              <a:t>Every change: get the latest API code from Kapture, merge, rebuild and redeploy the whole kAuthor API</a:t>
            </a:r>
          </a:p>
          <a:p>
            <a:pPr marL="228600" indent="-228600">
              <a:spcAft>
                <a:spcPts val="900"/>
              </a:spcAft>
              <a:buClr>
                <a:srgbClr val="C8551E"/>
              </a:buClr>
              <a:buFont typeface="Arial"/>
              <a:buChar char="•"/>
            </a:pPr>
            <a:r>
              <a:rPr sz="1600">
                <a:solidFill>
                  <a:srgbClr val="1B2433"/>
                </a:solidFill>
                <a:latin typeface="Calibri"/>
              </a:rPr>
              <a:t>Each redeploy restarts the API that kAuthor, DMT, MDM and the import jobs depend on</a:t>
            </a:r>
          </a:p>
          <a:p>
            <a:pPr marL="228600" indent="-228600">
              <a:spcAft>
                <a:spcPts val="900"/>
              </a:spcAft>
              <a:buClr>
                <a:srgbClr val="C8551E"/>
              </a:buClr>
              <a:buFont typeface="Arial"/>
              <a:buChar char="•"/>
            </a:pPr>
            <a:r>
              <a:rPr sz="1600">
                <a:solidFill>
                  <a:srgbClr val="1B2433"/>
                </a:solidFill>
                <a:latin typeface="Calibri"/>
              </a:rPr>
              <a:t>Our code must fit kAuthor's framework and library versions (to be checked)</a:t>
            </a:r>
          </a:p>
          <a:p>
            <a:pPr marL="228600" indent="-228600">
              <a:spcAft>
                <a:spcPts val="900"/>
              </a:spcAft>
              <a:buClr>
                <a:srgbClr val="C8551E"/>
              </a:buClr>
              <a:buFont typeface="Arial"/>
              <a:buChar char="•"/>
            </a:pPr>
            <a:r>
              <a:rPr sz="1600">
                <a:solidFill>
                  <a:srgbClr val="1B2433"/>
                </a:solidFill>
                <a:latin typeface="Calibri"/>
              </a:rPr>
              <a:t>Release timing tied to Kapture's; ownership of defects becomes unclear</a:t>
            </a:r>
          </a:p>
          <a:p>
            <a:pPr marL="228600" indent="-228600">
              <a:spcAft>
                <a:spcPts val="900"/>
              </a:spcAft>
              <a:buClr>
                <a:srgbClr val="C8551E"/>
              </a:buClr>
              <a:buFont typeface="Arial"/>
              <a:buChar char="•"/>
            </a:pPr>
            <a:r>
              <a:rPr sz="1600">
                <a:solidFill>
                  <a:srgbClr val="1B2433"/>
                </a:solidFill>
                <a:latin typeface="Calibri"/>
              </a:rPr>
              <a:t>A heavy batch run shares memory and CPU with the API</a:t>
            </a:r>
          </a:p>
        </p:txBody>
      </p:sp>
      <p:sp>
        <p:nvSpPr>
          <p:cNvPr id="13" name="Footer"/>
          <p:cNvSpPr txBox="1"/>
          <p:nvPr/>
        </p:nvSpPr>
        <p:spPr>
          <a:xfrm>
            <a:off x="548640" y="6400800"/>
            <a:ext cx="8229600" cy="274320"/>
          </a:xfrm>
          <a:prstGeom prst="rect">
            <a:avLst/>
          </a:prstGeom>
          <a:noFill/>
        </p:spPr>
        <p:txBody>
          <a:bodyPr wrap="square" lIns="0" tIns="0" rIns="0" bIns="0" anchor="t">
            <a:spAutoFit/>
          </a:bodyPr>
          <a:lstStyle/>
          <a:p>
            <a:pPr algn="l">
              <a:spcAft>
                <a:spcPts val="0"/>
              </a:spcAft>
            </a:pPr>
            <a:r>
              <a:rPr sz="1100" b="0" i="0">
                <a:solidFill>
                  <a:srgbClr val="4A5568"/>
                </a:solidFill>
                <a:latin typeface="Calibri"/>
              </a:rPr>
              <a:t>Kapture Batch Jobs - Deployment Options</a:t>
            </a:r>
          </a:p>
        </p:txBody>
      </p:sp>
      <p:sp>
        <p:nvSpPr>
          <p:cNvPr id="14" name="Slide number"/>
          <p:cNvSpPr txBox="1"/>
          <p:nvPr/>
        </p:nvSpPr>
        <p:spPr>
          <a:xfrm>
            <a:off x="10728655" y="6400800"/>
            <a:ext cx="914400" cy="274320"/>
          </a:xfrm>
          <a:prstGeom prst="rect">
            <a:avLst/>
          </a:prstGeom>
          <a:noFill/>
        </p:spPr>
        <p:txBody>
          <a:bodyPr wrap="square" lIns="0" tIns="0" rIns="0" bIns="0" anchor="t">
            <a:spAutoFit/>
          </a:bodyPr>
          <a:lstStyle/>
          <a:p>
            <a:pPr algn="r">
              <a:spcAft>
                <a:spcPts val="0"/>
              </a:spcAft>
            </a:pPr>
            <a:r>
              <a:rPr sz="1100" b="0" i="0">
                <a:solidFill>
                  <a:srgbClr val="4A5568"/>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ption badge"/>
          <p:cNvSpPr/>
          <p:nvPr/>
        </p:nvSpPr>
        <p:spPr>
          <a:xfrm>
            <a:off x="548640" y="484632"/>
            <a:ext cx="685800" cy="6858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800" b="1">
                <a:solidFill>
                  <a:srgbClr val="FFFFFF"/>
                </a:solidFill>
                <a:latin typeface="Calibri"/>
              </a:rPr>
              <a:t>2</a:t>
            </a:r>
          </a:p>
        </p:txBody>
      </p:sp>
      <p:sp>
        <p:nvSpPr>
          <p:cNvPr id="3" name="Title"/>
          <p:cNvSpPr txBox="1"/>
          <p:nvPr/>
        </p:nvSpPr>
        <p:spPr>
          <a:xfrm>
            <a:off x="1417320" y="457200"/>
            <a:ext cx="10225735" cy="731520"/>
          </a:xfrm>
          <a:prstGeom prst="rect">
            <a:avLst/>
          </a:prstGeom>
          <a:noFill/>
        </p:spPr>
        <p:txBody>
          <a:bodyPr wrap="square" lIns="0" tIns="0" rIns="0" bIns="0" anchor="ctr">
            <a:spAutoFit/>
          </a:bodyPr>
          <a:lstStyle/>
          <a:p>
            <a:pPr algn="l">
              <a:spcAft>
                <a:spcPts val="0"/>
              </a:spcAft>
            </a:pPr>
            <a:r>
              <a:rPr sz="3400" b="1" i="0">
                <a:solidFill>
                  <a:srgbClr val="14213D"/>
                </a:solidFill>
                <a:latin typeface="Calibri"/>
              </a:rPr>
              <a:t>Standalone jars, scheduled by cron</a:t>
            </a:r>
          </a:p>
        </p:txBody>
      </p:sp>
      <p:sp>
        <p:nvSpPr>
          <p:cNvPr id="4" name="Description"/>
          <p:cNvSpPr txBox="1"/>
          <p:nvPr/>
        </p:nvSpPr>
        <p:spPr>
          <a:xfrm>
            <a:off x="548640" y="1371600"/>
            <a:ext cx="11094415" cy="731520"/>
          </a:xfrm>
          <a:prstGeom prst="rect">
            <a:avLst/>
          </a:prstGeom>
          <a:noFill/>
        </p:spPr>
        <p:txBody>
          <a:bodyPr wrap="square" lIns="0" tIns="0" rIns="0" bIns="0" anchor="t">
            <a:spAutoFit/>
          </a:bodyPr>
          <a:lstStyle/>
          <a:p>
            <a:pPr algn="l">
              <a:spcAft>
                <a:spcPts val="0"/>
              </a:spcAft>
            </a:pPr>
            <a:r>
              <a:rPr sz="1700" b="0" i="0">
                <a:solidFill>
                  <a:srgbClr val="4A5568"/>
                </a:solidFill>
                <a:latin typeface="Calibri"/>
              </a:rPr>
              <a:t>Each job is its own package on the server (jar, configuration, run script, README); one crontab entry per job starts it on its schedule.</a:t>
            </a:r>
          </a:p>
        </p:txBody>
      </p:sp>
      <p:sp>
        <p:nvSpPr>
          <p:cNvPr id="5" name="Pros card"/>
          <p:cNvSpPr/>
          <p:nvPr/>
        </p:nvSpPr>
        <p:spPr>
          <a:xfrm>
            <a:off x="548640" y="2286000"/>
            <a:ext cx="5410047" cy="38862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ros badge"/>
          <p:cNvSpPr/>
          <p:nvPr/>
        </p:nvSpPr>
        <p:spPr>
          <a:xfrm>
            <a:off x="868680" y="2542032"/>
            <a:ext cx="384048" cy="384048"/>
          </a:xfrm>
          <a:prstGeom prst="ellipse">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a:t>
            </a:r>
          </a:p>
        </p:txBody>
      </p:sp>
      <p:sp>
        <p:nvSpPr>
          <p:cNvPr id="7" name="Pros heading"/>
          <p:cNvSpPr txBox="1"/>
          <p:nvPr/>
        </p:nvSpPr>
        <p:spPr>
          <a:xfrm>
            <a:off x="1371600" y="2523744"/>
            <a:ext cx="4312767" cy="411480"/>
          </a:xfrm>
          <a:prstGeom prst="rect">
            <a:avLst/>
          </a:prstGeom>
          <a:noFill/>
        </p:spPr>
        <p:txBody>
          <a:bodyPr wrap="square" lIns="0" tIns="0" rIns="0" bIns="0" anchor="ctr">
            <a:spAutoFit/>
          </a:bodyPr>
          <a:lstStyle/>
          <a:p>
            <a:pPr algn="l">
              <a:spcAft>
                <a:spcPts val="0"/>
              </a:spcAft>
            </a:pPr>
            <a:r>
              <a:rPr sz="2000" b="1" i="0">
                <a:solidFill>
                  <a:srgbClr val="1F5FA8"/>
                </a:solidFill>
                <a:latin typeface="Calibri"/>
              </a:rPr>
              <a:t>Pros</a:t>
            </a:r>
          </a:p>
        </p:txBody>
      </p:sp>
      <p:sp>
        <p:nvSpPr>
          <p:cNvPr id="8" name="Pros list"/>
          <p:cNvSpPr txBox="1"/>
          <p:nvPr/>
        </p:nvSpPr>
        <p:spPr>
          <a:xfrm>
            <a:off x="868680" y="3154680"/>
            <a:ext cx="4769967" cy="2926080"/>
          </a:xfrm>
          <a:prstGeom prst="rect">
            <a:avLst/>
          </a:prstGeom>
          <a:noFill/>
        </p:spPr>
        <p:txBody>
          <a:bodyPr wrap="square" lIns="0" tIns="0" rIns="0" bIns="0">
            <a:spAutoFit/>
          </a:bodyPr>
          <a:lstStyle/>
          <a:p>
            <a:pPr marL="228600" indent="-228600">
              <a:spcAft>
                <a:spcPts val="900"/>
              </a:spcAft>
              <a:buClr>
                <a:srgbClr val="1F5FA8"/>
              </a:buClr>
              <a:buFont typeface="Arial"/>
              <a:buChar char="•"/>
            </a:pPr>
            <a:r>
              <a:rPr sz="1600">
                <a:solidFill>
                  <a:srgbClr val="1B2433"/>
                </a:solidFill>
                <a:latin typeface="Calibri"/>
              </a:rPr>
              <a:t>Ready now: 8 packages built, configured for MC Dev and tested</a:t>
            </a:r>
          </a:p>
          <a:p>
            <a:pPr marL="228600" indent="-228600">
              <a:spcAft>
                <a:spcPts val="900"/>
              </a:spcAft>
              <a:buClr>
                <a:srgbClr val="1F5FA8"/>
              </a:buClr>
              <a:buFont typeface="Arial"/>
              <a:buChar char="•"/>
            </a:pPr>
            <a:r>
              <a:rPr sz="1600">
                <a:solidFill>
                  <a:srgbClr val="1B2433"/>
                </a:solidFill>
                <a:latin typeface="Calibri"/>
              </a:rPr>
              <a:t>No change to kAuthor, MDM or DMT - no dependency on their releases</a:t>
            </a:r>
          </a:p>
          <a:p>
            <a:pPr marL="228600" indent="-228600">
              <a:spcAft>
                <a:spcPts val="900"/>
              </a:spcAft>
              <a:buClr>
                <a:srgbClr val="1F5FA8"/>
              </a:buClr>
              <a:buFont typeface="Arial"/>
              <a:buChar char="•"/>
            </a:pPr>
            <a:r>
              <a:rPr sz="1600">
                <a:solidFill>
                  <a:srgbClr val="1B2433"/>
                </a:solidFill>
                <a:latin typeface="Calibri"/>
              </a:rPr>
              <a:t>A change to one job = replace one jar; nothing else restarts</a:t>
            </a:r>
          </a:p>
          <a:p>
            <a:pPr marL="228600" indent="-228600">
              <a:spcAft>
                <a:spcPts val="900"/>
              </a:spcAft>
              <a:buClr>
                <a:srgbClr val="1F5FA8"/>
              </a:buClr>
              <a:buFont typeface="Arial"/>
              <a:buChar char="•"/>
            </a:pPr>
            <a:r>
              <a:rPr sz="1600">
                <a:solidFill>
                  <a:srgbClr val="1B2433"/>
                </a:solidFill>
                <a:latin typeface="Calibri"/>
              </a:rPr>
              <a:t>Each run recorded in the run history tables, the job log, and its report / mail</a:t>
            </a:r>
          </a:p>
          <a:p>
            <a:pPr marL="228600" indent="-228600">
              <a:spcAft>
                <a:spcPts val="900"/>
              </a:spcAft>
              <a:buClr>
                <a:srgbClr val="1F5FA8"/>
              </a:buClr>
              <a:buFont typeface="Arial"/>
              <a:buChar char="•"/>
            </a:pPr>
            <a:r>
              <a:rPr sz="1600">
                <a:solidFill>
                  <a:srgbClr val="1B2433"/>
                </a:solidFill>
                <a:latin typeface="Calibri"/>
              </a:rPr>
              <a:t>Works with cron or an enterprise scheduler; a built-in scheduler mode exists as a fallback</a:t>
            </a:r>
          </a:p>
        </p:txBody>
      </p:sp>
      <p:sp>
        <p:nvSpPr>
          <p:cNvPr id="9" name="Cons card"/>
          <p:cNvSpPr/>
          <p:nvPr/>
        </p:nvSpPr>
        <p:spPr>
          <a:xfrm>
            <a:off x="6233007" y="2286000"/>
            <a:ext cx="5410047" cy="3886200"/>
          </a:xfrm>
          <a:prstGeom prst="roundRect">
            <a:avLst>
              <a:gd name="adj" fmla="val 4000"/>
            </a:avLst>
          </a:prstGeom>
          <a:solidFill>
            <a:srgbClr val="FC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ons badge"/>
          <p:cNvSpPr/>
          <p:nvPr/>
        </p:nvSpPr>
        <p:spPr>
          <a:xfrm>
            <a:off x="6553047" y="2542032"/>
            <a:ext cx="384048" cy="384048"/>
          </a:xfrm>
          <a:prstGeom prst="ellipse">
            <a:avLst/>
          </a:prstGeom>
          <a:solidFill>
            <a:srgbClr val="C8551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a:t>
            </a:r>
          </a:p>
        </p:txBody>
      </p:sp>
      <p:sp>
        <p:nvSpPr>
          <p:cNvPr id="11" name="Cons heading"/>
          <p:cNvSpPr txBox="1"/>
          <p:nvPr/>
        </p:nvSpPr>
        <p:spPr>
          <a:xfrm>
            <a:off x="7055967" y="2523744"/>
            <a:ext cx="4312767" cy="411480"/>
          </a:xfrm>
          <a:prstGeom prst="rect">
            <a:avLst/>
          </a:prstGeom>
          <a:noFill/>
        </p:spPr>
        <p:txBody>
          <a:bodyPr wrap="square" lIns="0" tIns="0" rIns="0" bIns="0" anchor="ctr">
            <a:spAutoFit/>
          </a:bodyPr>
          <a:lstStyle/>
          <a:p>
            <a:pPr algn="l">
              <a:spcAft>
                <a:spcPts val="0"/>
              </a:spcAft>
            </a:pPr>
            <a:r>
              <a:rPr sz="2000" b="1" i="0">
                <a:solidFill>
                  <a:srgbClr val="C8551E"/>
                </a:solidFill>
                <a:latin typeface="Calibri"/>
              </a:rPr>
              <a:t>Cons</a:t>
            </a:r>
          </a:p>
        </p:txBody>
      </p:sp>
      <p:sp>
        <p:nvSpPr>
          <p:cNvPr id="12" name="Cons list"/>
          <p:cNvSpPr txBox="1"/>
          <p:nvPr/>
        </p:nvSpPr>
        <p:spPr>
          <a:xfrm>
            <a:off x="6553047" y="3154680"/>
            <a:ext cx="4769967" cy="2926080"/>
          </a:xfrm>
          <a:prstGeom prst="rect">
            <a:avLst/>
          </a:prstGeom>
          <a:noFill/>
        </p:spPr>
        <p:txBody>
          <a:bodyPr wrap="square" lIns="0" tIns="0" rIns="0" bIns="0">
            <a:spAutoFit/>
          </a:bodyPr>
          <a:lstStyle/>
          <a:p>
            <a:pPr marL="228600" indent="-228600">
              <a:spcAft>
                <a:spcPts val="900"/>
              </a:spcAft>
              <a:buClr>
                <a:srgbClr val="C8551E"/>
              </a:buClr>
              <a:buFont typeface="Arial"/>
              <a:buChar char="•"/>
            </a:pPr>
            <a:r>
              <a:rPr sz="1600">
                <a:solidFill>
                  <a:srgbClr val="1B2433"/>
                </a:solidFill>
                <a:latin typeface="Calibri"/>
              </a:rPr>
              <a:t>Needs a server user and one crontab entry per job (admin task)</a:t>
            </a:r>
          </a:p>
          <a:p>
            <a:pPr marL="228600" indent="-228600">
              <a:spcAft>
                <a:spcPts val="900"/>
              </a:spcAft>
              <a:buClr>
                <a:srgbClr val="C8551E"/>
              </a:buClr>
              <a:buFont typeface="Arial"/>
              <a:buChar char="•"/>
            </a:pPr>
            <a:r>
              <a:rPr sz="1600">
                <a:solidFill>
                  <a:srgbClr val="1B2433"/>
                </a:solidFill>
                <a:latin typeface="Calibri"/>
              </a:rPr>
              <a:t>Schedules are changed in crontab, not on a screen</a:t>
            </a:r>
          </a:p>
          <a:p>
            <a:pPr marL="228600" indent="-228600">
              <a:spcAft>
                <a:spcPts val="900"/>
              </a:spcAft>
              <a:buClr>
                <a:srgbClr val="C8551E"/>
              </a:buClr>
              <a:buFont typeface="Arial"/>
              <a:buChar char="•"/>
            </a:pPr>
            <a:r>
              <a:rPr sz="1600">
                <a:solidFill>
                  <a:srgbClr val="1B2433"/>
                </a:solidFill>
                <a:latin typeface="Calibri"/>
              </a:rPr>
              <a:t>No screen for the business: history through tables, logs and mails</a:t>
            </a:r>
          </a:p>
          <a:p>
            <a:pPr marL="228600" indent="-228600">
              <a:spcAft>
                <a:spcPts val="900"/>
              </a:spcAft>
              <a:buClr>
                <a:srgbClr val="C8551E"/>
              </a:buClr>
              <a:buFont typeface="Arial"/>
              <a:buChar char="•"/>
            </a:pPr>
            <a:r>
              <a:rPr sz="1600">
                <a:solidFill>
                  <a:srgbClr val="1B2433"/>
                </a:solidFill>
                <a:latin typeface="Calibri"/>
              </a:rPr>
              <a:t>JDK 25 must be installed on the server</a:t>
            </a:r>
          </a:p>
        </p:txBody>
      </p:sp>
      <p:sp>
        <p:nvSpPr>
          <p:cNvPr id="13" name="Footer"/>
          <p:cNvSpPr txBox="1"/>
          <p:nvPr/>
        </p:nvSpPr>
        <p:spPr>
          <a:xfrm>
            <a:off x="548640" y="6400800"/>
            <a:ext cx="8229600" cy="274320"/>
          </a:xfrm>
          <a:prstGeom prst="rect">
            <a:avLst/>
          </a:prstGeom>
          <a:noFill/>
        </p:spPr>
        <p:txBody>
          <a:bodyPr wrap="square" lIns="0" tIns="0" rIns="0" bIns="0" anchor="t">
            <a:spAutoFit/>
          </a:bodyPr>
          <a:lstStyle/>
          <a:p>
            <a:pPr algn="l">
              <a:spcAft>
                <a:spcPts val="0"/>
              </a:spcAft>
            </a:pPr>
            <a:r>
              <a:rPr sz="1100" b="0" i="0">
                <a:solidFill>
                  <a:srgbClr val="4A5568"/>
                </a:solidFill>
                <a:latin typeface="Calibri"/>
              </a:rPr>
              <a:t>Kapture Batch Jobs - Deployment Options</a:t>
            </a:r>
          </a:p>
        </p:txBody>
      </p:sp>
      <p:sp>
        <p:nvSpPr>
          <p:cNvPr id="14" name="Slide number"/>
          <p:cNvSpPr txBox="1"/>
          <p:nvPr/>
        </p:nvSpPr>
        <p:spPr>
          <a:xfrm>
            <a:off x="10728655" y="6400800"/>
            <a:ext cx="914400" cy="274320"/>
          </a:xfrm>
          <a:prstGeom prst="rect">
            <a:avLst/>
          </a:prstGeom>
          <a:noFill/>
        </p:spPr>
        <p:txBody>
          <a:bodyPr wrap="square" lIns="0" tIns="0" rIns="0" bIns="0" anchor="t">
            <a:spAutoFit/>
          </a:bodyPr>
          <a:lstStyle/>
          <a:p>
            <a:pPr algn="r">
              <a:spcAft>
                <a:spcPts val="0"/>
              </a:spcAft>
            </a:pPr>
            <a:r>
              <a:rPr sz="1100" b="0" i="0">
                <a:solidFill>
                  <a:srgbClr val="4A5568"/>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ption badge"/>
          <p:cNvSpPr/>
          <p:nvPr/>
        </p:nvSpPr>
        <p:spPr>
          <a:xfrm>
            <a:off x="548640" y="484632"/>
            <a:ext cx="685800" cy="6858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800" b="1">
                <a:solidFill>
                  <a:srgbClr val="FFFFFF"/>
                </a:solidFill>
                <a:latin typeface="Calibri"/>
              </a:rPr>
              <a:t>3</a:t>
            </a:r>
          </a:p>
        </p:txBody>
      </p:sp>
      <p:sp>
        <p:nvSpPr>
          <p:cNvPr id="3" name="Title"/>
          <p:cNvSpPr txBox="1"/>
          <p:nvPr/>
        </p:nvSpPr>
        <p:spPr>
          <a:xfrm>
            <a:off x="1417320" y="457200"/>
            <a:ext cx="10225735" cy="731520"/>
          </a:xfrm>
          <a:prstGeom prst="rect">
            <a:avLst/>
          </a:prstGeom>
          <a:noFill/>
        </p:spPr>
        <p:txBody>
          <a:bodyPr wrap="square" lIns="0" tIns="0" rIns="0" bIns="0" anchor="ctr">
            <a:spAutoFit/>
          </a:bodyPr>
          <a:lstStyle/>
          <a:p>
            <a:pPr algn="l">
              <a:spcAft>
                <a:spcPts val="0"/>
              </a:spcAft>
            </a:pPr>
            <a:r>
              <a:rPr sz="3400" b="1" i="0">
                <a:solidFill>
                  <a:srgbClr val="14213D"/>
                </a:solidFill>
                <a:latin typeface="Calibri"/>
              </a:rPr>
              <a:t>New scheduler web app</a:t>
            </a:r>
          </a:p>
        </p:txBody>
      </p:sp>
      <p:sp>
        <p:nvSpPr>
          <p:cNvPr id="4" name="Description"/>
          <p:cNvSpPr txBox="1"/>
          <p:nvPr/>
        </p:nvSpPr>
        <p:spPr>
          <a:xfrm>
            <a:off x="548640" y="1371600"/>
            <a:ext cx="11094415" cy="731520"/>
          </a:xfrm>
          <a:prstGeom prst="rect">
            <a:avLst/>
          </a:prstGeom>
          <a:noFill/>
        </p:spPr>
        <p:txBody>
          <a:bodyPr wrap="square" lIns="0" tIns="0" rIns="0" bIns="0" anchor="t">
            <a:spAutoFit/>
          </a:bodyPr>
          <a:lstStyle/>
          <a:p>
            <a:pPr algn="l">
              <a:spcAft>
                <a:spcPts val="0"/>
              </a:spcAft>
            </a:pPr>
            <a:r>
              <a:rPr sz="1700" b="0" i="0">
                <a:solidFill>
                  <a:srgbClr val="4A5568"/>
                </a:solidFill>
                <a:latin typeface="Calibri"/>
              </a:rPr>
              <a:t>A new, dedicated web application holds the schedules, starts the existing job packages and shows their run history on screens; kAuthor, MDM and DMT stay untouched.</a:t>
            </a:r>
          </a:p>
        </p:txBody>
      </p:sp>
      <p:sp>
        <p:nvSpPr>
          <p:cNvPr id="5" name="Pros card"/>
          <p:cNvSpPr/>
          <p:nvPr/>
        </p:nvSpPr>
        <p:spPr>
          <a:xfrm>
            <a:off x="548640" y="2286000"/>
            <a:ext cx="5410047" cy="38862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ros badge"/>
          <p:cNvSpPr/>
          <p:nvPr/>
        </p:nvSpPr>
        <p:spPr>
          <a:xfrm>
            <a:off x="868680" y="2542032"/>
            <a:ext cx="384048" cy="384048"/>
          </a:xfrm>
          <a:prstGeom prst="ellipse">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a:t>
            </a:r>
          </a:p>
        </p:txBody>
      </p:sp>
      <p:sp>
        <p:nvSpPr>
          <p:cNvPr id="7" name="Pros heading"/>
          <p:cNvSpPr txBox="1"/>
          <p:nvPr/>
        </p:nvSpPr>
        <p:spPr>
          <a:xfrm>
            <a:off x="1371600" y="2523744"/>
            <a:ext cx="4312767" cy="411480"/>
          </a:xfrm>
          <a:prstGeom prst="rect">
            <a:avLst/>
          </a:prstGeom>
          <a:noFill/>
        </p:spPr>
        <p:txBody>
          <a:bodyPr wrap="square" lIns="0" tIns="0" rIns="0" bIns="0" anchor="ctr">
            <a:spAutoFit/>
          </a:bodyPr>
          <a:lstStyle/>
          <a:p>
            <a:pPr algn="l">
              <a:spcAft>
                <a:spcPts val="0"/>
              </a:spcAft>
            </a:pPr>
            <a:r>
              <a:rPr sz="2000" b="1" i="0">
                <a:solidFill>
                  <a:srgbClr val="1F5FA8"/>
                </a:solidFill>
                <a:latin typeface="Calibri"/>
              </a:rPr>
              <a:t>Pros</a:t>
            </a:r>
          </a:p>
        </p:txBody>
      </p:sp>
      <p:sp>
        <p:nvSpPr>
          <p:cNvPr id="8" name="Pros list"/>
          <p:cNvSpPr txBox="1"/>
          <p:nvPr/>
        </p:nvSpPr>
        <p:spPr>
          <a:xfrm>
            <a:off x="868680" y="3154680"/>
            <a:ext cx="4769967" cy="2926080"/>
          </a:xfrm>
          <a:prstGeom prst="rect">
            <a:avLst/>
          </a:prstGeom>
          <a:noFill/>
        </p:spPr>
        <p:txBody>
          <a:bodyPr wrap="square" lIns="0" tIns="0" rIns="0" bIns="0">
            <a:spAutoFit/>
          </a:bodyPr>
          <a:lstStyle/>
          <a:p>
            <a:pPr marL="228600" indent="-228600">
              <a:spcAft>
                <a:spcPts val="900"/>
              </a:spcAft>
              <a:buClr>
                <a:srgbClr val="1F5FA8"/>
              </a:buClr>
              <a:buFont typeface="Arial"/>
              <a:buChar char="•"/>
            </a:pPr>
            <a:r>
              <a:rPr sz="1600">
                <a:solidFill>
                  <a:srgbClr val="1B2433"/>
                </a:solidFill>
                <a:latin typeface="Calibri"/>
              </a:rPr>
              <a:t>One screen to schedule, enable / disable, run on demand and see run history</a:t>
            </a:r>
          </a:p>
          <a:p>
            <a:pPr marL="228600" indent="-228600">
              <a:spcAft>
                <a:spcPts val="900"/>
              </a:spcAft>
              <a:buClr>
                <a:srgbClr val="1F5FA8"/>
              </a:buClr>
              <a:buFont typeface="Arial"/>
              <a:buChar char="•"/>
            </a:pPr>
            <a:r>
              <a:rPr sz="1600">
                <a:solidFill>
                  <a:srgbClr val="1B2433"/>
                </a:solidFill>
                <a:latin typeface="Calibri"/>
              </a:rPr>
              <a:t>No change to kAuthor, MDM or DMT - their releases and users are not affected</a:t>
            </a:r>
          </a:p>
          <a:p>
            <a:pPr marL="228600" indent="-228600">
              <a:spcAft>
                <a:spcPts val="900"/>
              </a:spcAft>
              <a:buClr>
                <a:srgbClr val="1F5FA8"/>
              </a:buClr>
              <a:buFont typeface="Arial"/>
              <a:buChar char="•"/>
            </a:pPr>
            <a:r>
              <a:rPr sz="1600">
                <a:solidFill>
                  <a:srgbClr val="1B2433"/>
                </a:solidFill>
                <a:latin typeface="Calibri"/>
              </a:rPr>
              <a:t>Starts the same 8 job packages - each job still runs in its own process</a:t>
            </a:r>
          </a:p>
          <a:p>
            <a:pPr marL="228600" indent="-228600">
              <a:spcAft>
                <a:spcPts val="900"/>
              </a:spcAft>
              <a:buClr>
                <a:srgbClr val="1F5FA8"/>
              </a:buClr>
              <a:buFont typeface="Arial"/>
              <a:buChar char="•"/>
            </a:pPr>
            <a:r>
              <a:rPr sz="1600">
                <a:solidFill>
                  <a:srgbClr val="1B2433"/>
                </a:solidFill>
                <a:latin typeface="Calibri"/>
              </a:rPr>
              <a:t>Code we own - no dependency on the Kapture team</a:t>
            </a:r>
          </a:p>
        </p:txBody>
      </p:sp>
      <p:sp>
        <p:nvSpPr>
          <p:cNvPr id="9" name="Cons card"/>
          <p:cNvSpPr/>
          <p:nvPr/>
        </p:nvSpPr>
        <p:spPr>
          <a:xfrm>
            <a:off x="6233007" y="2286000"/>
            <a:ext cx="5410047" cy="3886200"/>
          </a:xfrm>
          <a:prstGeom prst="roundRect">
            <a:avLst>
              <a:gd name="adj" fmla="val 4000"/>
            </a:avLst>
          </a:prstGeom>
          <a:solidFill>
            <a:srgbClr val="FC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ons badge"/>
          <p:cNvSpPr/>
          <p:nvPr/>
        </p:nvSpPr>
        <p:spPr>
          <a:xfrm>
            <a:off x="6553047" y="2542032"/>
            <a:ext cx="384048" cy="384048"/>
          </a:xfrm>
          <a:prstGeom prst="ellipse">
            <a:avLst/>
          </a:prstGeom>
          <a:solidFill>
            <a:srgbClr val="C8551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a:t>
            </a:r>
          </a:p>
        </p:txBody>
      </p:sp>
      <p:sp>
        <p:nvSpPr>
          <p:cNvPr id="11" name="Cons heading"/>
          <p:cNvSpPr txBox="1"/>
          <p:nvPr/>
        </p:nvSpPr>
        <p:spPr>
          <a:xfrm>
            <a:off x="7055967" y="2523744"/>
            <a:ext cx="4312767" cy="411480"/>
          </a:xfrm>
          <a:prstGeom prst="rect">
            <a:avLst/>
          </a:prstGeom>
          <a:noFill/>
        </p:spPr>
        <p:txBody>
          <a:bodyPr wrap="square" lIns="0" tIns="0" rIns="0" bIns="0" anchor="ctr">
            <a:spAutoFit/>
          </a:bodyPr>
          <a:lstStyle/>
          <a:p>
            <a:pPr algn="l">
              <a:spcAft>
                <a:spcPts val="0"/>
              </a:spcAft>
            </a:pPr>
            <a:r>
              <a:rPr sz="2000" b="1" i="0">
                <a:solidFill>
                  <a:srgbClr val="C8551E"/>
                </a:solidFill>
                <a:latin typeface="Calibri"/>
              </a:rPr>
              <a:t>Cons</a:t>
            </a:r>
          </a:p>
        </p:txBody>
      </p:sp>
      <p:sp>
        <p:nvSpPr>
          <p:cNvPr id="12" name="Cons list"/>
          <p:cNvSpPr txBox="1"/>
          <p:nvPr/>
        </p:nvSpPr>
        <p:spPr>
          <a:xfrm>
            <a:off x="6553047" y="3154680"/>
            <a:ext cx="4769967" cy="2926080"/>
          </a:xfrm>
          <a:prstGeom prst="rect">
            <a:avLst/>
          </a:prstGeom>
          <a:noFill/>
        </p:spPr>
        <p:txBody>
          <a:bodyPr wrap="square" lIns="0" tIns="0" rIns="0" bIns="0">
            <a:spAutoFit/>
          </a:bodyPr>
          <a:lstStyle/>
          <a:p>
            <a:pPr marL="228600" indent="-228600">
              <a:spcAft>
                <a:spcPts val="900"/>
              </a:spcAft>
              <a:buClr>
                <a:srgbClr val="C8551E"/>
              </a:buClr>
              <a:buFont typeface="Arial"/>
              <a:buChar char="•"/>
            </a:pPr>
            <a:r>
              <a:rPr sz="1600">
                <a:solidFill>
                  <a:srgbClr val="1B2433"/>
                </a:solidFill>
                <a:latin typeface="Calibri"/>
              </a:rPr>
              <a:t>New development: scheduler, screens, login and roles, run history views</a:t>
            </a:r>
          </a:p>
          <a:p>
            <a:pPr marL="228600" indent="-228600">
              <a:spcAft>
                <a:spcPts val="900"/>
              </a:spcAft>
              <a:buClr>
                <a:srgbClr val="C8551E"/>
              </a:buClr>
              <a:buFont typeface="Arial"/>
              <a:buChar char="•"/>
            </a:pPr>
            <a:r>
              <a:rPr sz="1600">
                <a:solidFill>
                  <a:srgbClr val="1B2433"/>
                </a:solidFill>
                <a:latin typeface="Calibri"/>
              </a:rPr>
              <a:t>One more application to host, secure (login, security review) and maintain per environment</a:t>
            </a:r>
          </a:p>
          <a:p>
            <a:pPr marL="228600" indent="-228600">
              <a:spcAft>
                <a:spcPts val="900"/>
              </a:spcAft>
              <a:buClr>
                <a:srgbClr val="C8551E"/>
              </a:buClr>
              <a:buFont typeface="Arial"/>
              <a:buChar char="•"/>
            </a:pPr>
            <a:r>
              <a:rPr sz="1600">
                <a:solidFill>
                  <a:srgbClr val="1B2433"/>
                </a:solidFill>
                <a:latin typeface="Calibri"/>
              </a:rPr>
              <a:t>A restart of the web app pauses scheduling; missed runs need catch-up rules</a:t>
            </a:r>
          </a:p>
          <a:p>
            <a:pPr marL="228600" indent="-228600">
              <a:spcAft>
                <a:spcPts val="900"/>
              </a:spcAft>
              <a:buClr>
                <a:srgbClr val="C8551E"/>
              </a:buClr>
              <a:buFont typeface="Arial"/>
              <a:buChar char="•"/>
            </a:pPr>
            <a:r>
              <a:rPr sz="1600">
                <a:solidFill>
                  <a:srgbClr val="1B2433"/>
                </a:solidFill>
                <a:latin typeface="Calibri"/>
              </a:rPr>
              <a:t>More than one server node needs locking to avoid double runs</a:t>
            </a:r>
          </a:p>
          <a:p>
            <a:pPr marL="228600" indent="-228600">
              <a:spcAft>
                <a:spcPts val="900"/>
              </a:spcAft>
              <a:buClr>
                <a:srgbClr val="C8551E"/>
              </a:buClr>
              <a:buFont typeface="Arial"/>
              <a:buChar char="•"/>
            </a:pPr>
            <a:r>
              <a:rPr sz="1600">
                <a:solidFill>
                  <a:srgbClr val="1B2433"/>
                </a:solidFill>
                <a:latin typeface="Calibri"/>
              </a:rPr>
              <a:t>Longest timeline and test effort before the first job runs</a:t>
            </a:r>
          </a:p>
        </p:txBody>
      </p:sp>
      <p:sp>
        <p:nvSpPr>
          <p:cNvPr id="13" name="Footer"/>
          <p:cNvSpPr txBox="1"/>
          <p:nvPr/>
        </p:nvSpPr>
        <p:spPr>
          <a:xfrm>
            <a:off x="548640" y="6400800"/>
            <a:ext cx="8229600" cy="274320"/>
          </a:xfrm>
          <a:prstGeom prst="rect">
            <a:avLst/>
          </a:prstGeom>
          <a:noFill/>
        </p:spPr>
        <p:txBody>
          <a:bodyPr wrap="square" lIns="0" tIns="0" rIns="0" bIns="0" anchor="t">
            <a:spAutoFit/>
          </a:bodyPr>
          <a:lstStyle/>
          <a:p>
            <a:pPr algn="l">
              <a:spcAft>
                <a:spcPts val="0"/>
              </a:spcAft>
            </a:pPr>
            <a:r>
              <a:rPr sz="1100" b="0" i="0">
                <a:solidFill>
                  <a:srgbClr val="4A5568"/>
                </a:solidFill>
                <a:latin typeface="Calibri"/>
              </a:rPr>
              <a:t>Kapture Batch Jobs - Deployment Options</a:t>
            </a:r>
          </a:p>
        </p:txBody>
      </p:sp>
      <p:sp>
        <p:nvSpPr>
          <p:cNvPr id="14" name="Slide number"/>
          <p:cNvSpPr txBox="1"/>
          <p:nvPr/>
        </p:nvSpPr>
        <p:spPr>
          <a:xfrm>
            <a:off x="10728655" y="6400800"/>
            <a:ext cx="914400" cy="274320"/>
          </a:xfrm>
          <a:prstGeom prst="rect">
            <a:avLst/>
          </a:prstGeom>
          <a:noFill/>
        </p:spPr>
        <p:txBody>
          <a:bodyPr wrap="square" lIns="0" tIns="0" rIns="0" bIns="0" anchor="t">
            <a:spAutoFit/>
          </a:bodyPr>
          <a:lstStyle/>
          <a:p>
            <a:pPr algn="r">
              <a:spcAft>
                <a:spcPts val="0"/>
              </a:spcAft>
            </a:pPr>
            <a:r>
              <a:rPr sz="1100" b="0" i="0">
                <a:solidFill>
                  <a:srgbClr val="4A5568"/>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7200"/>
            <a:ext cx="11094415" cy="731520"/>
          </a:xfrm>
          <a:prstGeom prst="rect">
            <a:avLst/>
          </a:prstGeom>
          <a:noFill/>
        </p:spPr>
        <p:txBody>
          <a:bodyPr wrap="square" lIns="0" tIns="0" rIns="0" bIns="0" anchor="ctr">
            <a:spAutoFit/>
          </a:bodyPr>
          <a:lstStyle/>
          <a:p>
            <a:pPr algn="l">
              <a:spcAft>
                <a:spcPts val="0"/>
              </a:spcAft>
            </a:pPr>
            <a:r>
              <a:rPr sz="3400" b="1" i="0">
                <a:solidFill>
                  <a:srgbClr val="14213D"/>
                </a:solidFill>
                <a:latin typeface="Calibri"/>
              </a:rPr>
              <a:t>Side by side</a:t>
            </a:r>
          </a:p>
        </p:txBody>
      </p:sp>
      <p:graphicFrame>
        <p:nvGraphicFramePr>
          <p:cNvPr id="3" name="Table 2"/>
          <p:cNvGraphicFramePr>
            <a:graphicFrameLocks noGrp="1"/>
          </p:cNvGraphicFramePr>
          <p:nvPr/>
        </p:nvGraphicFramePr>
        <p:xfrm>
          <a:off x="548640" y="1371600"/>
          <a:ext cx="11094414" cy="4279392"/>
        </p:xfrm>
        <a:graphic>
          <a:graphicData uri="http://schemas.openxmlformats.org/drawingml/2006/table">
            <a:tbl>
              <a:tblPr firstRow="1">
                <a:tableStyleId>{5C22544A-7EE6-4342-B048-85BDC9FD1C3A}</a:tableStyleId>
              </a:tblPr>
              <a:tblGrid>
                <a:gridCol w="3108960">
                  <a:extLst>
                    <a:ext uri="{9D8B030D-6E8A-4147-A177-3AD203B41FA5}">
                      <a16:colId xmlns:a16="http://schemas.microsoft.com/office/drawing/2014/main" val="20000"/>
                    </a:ext>
                  </a:extLst>
                </a:gridCol>
                <a:gridCol w="2661818">
                  <a:extLst>
                    <a:ext uri="{9D8B030D-6E8A-4147-A177-3AD203B41FA5}">
                      <a16:colId xmlns:a16="http://schemas.microsoft.com/office/drawing/2014/main" val="20001"/>
                    </a:ext>
                  </a:extLst>
                </a:gridCol>
                <a:gridCol w="2661818">
                  <a:extLst>
                    <a:ext uri="{9D8B030D-6E8A-4147-A177-3AD203B41FA5}">
                      <a16:colId xmlns:a16="http://schemas.microsoft.com/office/drawing/2014/main" val="20002"/>
                    </a:ext>
                  </a:extLst>
                </a:gridCol>
                <a:gridCol w="2661818">
                  <a:extLst>
                    <a:ext uri="{9D8B030D-6E8A-4147-A177-3AD203B41FA5}">
                      <a16:colId xmlns:a16="http://schemas.microsoft.com/office/drawing/2014/main" val="20003"/>
                    </a:ext>
                  </a:extLst>
                </a:gridCol>
              </a:tblGrid>
              <a:tr h="475488">
                <a:tc>
                  <a:txBody>
                    <a:bodyPr/>
                    <a:lstStyle/>
                    <a:p>
                      <a:r>
                        <a:rPr sz="1500" b="1">
                          <a:solidFill>
                            <a:srgbClr val="FFFFFF"/>
                          </a:solidFill>
                          <a:latin typeface="Calibri"/>
                        </a:rPr>
                        <a:t>Criterion</a:t>
                      </a:r>
                    </a:p>
                  </a:txBody>
                  <a:tcPr marL="109728" marR="109728" marT="54864" marB="54864" anchor="ctr">
                    <a:solidFill>
                      <a:srgbClr val="14213D"/>
                    </a:solidFill>
                  </a:tcPr>
                </a:tc>
                <a:tc>
                  <a:txBody>
                    <a:bodyPr/>
                    <a:lstStyle/>
                    <a:p>
                      <a:r>
                        <a:rPr sz="1500" b="1">
                          <a:solidFill>
                            <a:srgbClr val="FFFFFF"/>
                          </a:solidFill>
                          <a:latin typeface="Calibri"/>
                        </a:rPr>
                        <a:t>1  kAuthor API web app</a:t>
                      </a:r>
                    </a:p>
                  </a:txBody>
                  <a:tcPr marL="109728" marR="109728" marT="54864" marB="54864" anchor="ctr">
                    <a:solidFill>
                      <a:srgbClr val="14213D"/>
                    </a:solidFill>
                  </a:tcPr>
                </a:tc>
                <a:tc>
                  <a:txBody>
                    <a:bodyPr/>
                    <a:lstStyle/>
                    <a:p>
                      <a:r>
                        <a:rPr sz="1500" b="1">
                          <a:solidFill>
                            <a:srgbClr val="FFFFFF"/>
                          </a:solidFill>
                          <a:latin typeface="Calibri"/>
                        </a:rPr>
                        <a:t>2  Standalone jars + cron</a:t>
                      </a:r>
                    </a:p>
                  </a:txBody>
                  <a:tcPr marL="109728" marR="109728" marT="54864" marB="54864" anchor="ctr">
                    <a:solidFill>
                      <a:srgbClr val="14213D"/>
                    </a:solidFill>
                  </a:tcPr>
                </a:tc>
                <a:tc>
                  <a:txBody>
                    <a:bodyPr/>
                    <a:lstStyle/>
                    <a:p>
                      <a:r>
                        <a:rPr sz="1500" b="1">
                          <a:solidFill>
                            <a:srgbClr val="FFFFFF"/>
                          </a:solidFill>
                          <a:latin typeface="Calibri"/>
                        </a:rPr>
                        <a:t>3  New scheduler web app</a:t>
                      </a:r>
                    </a:p>
                  </a:txBody>
                  <a:tcPr marL="109728" marR="109728" marT="54864" marB="54864" anchor="ctr">
                    <a:solidFill>
                      <a:srgbClr val="14213D"/>
                    </a:solidFill>
                  </a:tcPr>
                </a:tc>
                <a:extLst>
                  <a:ext uri="{0D108BD9-81ED-4DB2-BD59-A6C34878D82A}">
                    <a16:rowId xmlns:a16="http://schemas.microsoft.com/office/drawing/2014/main" val="10000"/>
                  </a:ext>
                </a:extLst>
              </a:tr>
              <a:tr h="475488">
                <a:tc>
                  <a:txBody>
                    <a:bodyPr/>
                    <a:lstStyle/>
                    <a:p>
                      <a:r>
                        <a:rPr sz="1400" b="1">
                          <a:solidFill>
                            <a:srgbClr val="14213D"/>
                          </a:solidFill>
                          <a:latin typeface="Calibri"/>
                        </a:rPr>
                        <a:t>Ready to deploy</a:t>
                      </a:r>
                    </a:p>
                  </a:txBody>
                  <a:tcPr marL="109728" marR="109728" marT="54864" marB="54864" anchor="ctr">
                    <a:solidFill>
                      <a:srgbClr val="FFFFFF"/>
                    </a:solidFill>
                  </a:tcPr>
                </a:tc>
                <a:tc>
                  <a:txBody>
                    <a:bodyPr/>
                    <a:lstStyle/>
                    <a:p>
                      <a:r>
                        <a:rPr sz="1400" b="0">
                          <a:solidFill>
                            <a:srgbClr val="4A5568"/>
                          </a:solidFill>
                          <a:latin typeface="Calibri"/>
                        </a:rPr>
                        <a:t>No - merge first</a:t>
                      </a:r>
                    </a:p>
                  </a:txBody>
                  <a:tcPr marL="109728" marR="109728" marT="54864" marB="54864" anchor="ctr">
                    <a:solidFill>
                      <a:srgbClr val="FFFFFF"/>
                    </a:solidFill>
                  </a:tcPr>
                </a:tc>
                <a:tc>
                  <a:txBody>
                    <a:bodyPr/>
                    <a:lstStyle/>
                    <a:p>
                      <a:r>
                        <a:rPr sz="1400" b="1">
                          <a:solidFill>
                            <a:srgbClr val="1F5FA8"/>
                          </a:solidFill>
                          <a:latin typeface="Calibri"/>
                        </a:rPr>
                        <a:t>Yes - packages ready  (strongest)</a:t>
                      </a:r>
                    </a:p>
                  </a:txBody>
                  <a:tcPr marL="109728" marR="109728" marT="54864" marB="54864" anchor="ctr">
                    <a:solidFill>
                      <a:srgbClr val="EEF3FA"/>
                    </a:solidFill>
                  </a:tcPr>
                </a:tc>
                <a:tc>
                  <a:txBody>
                    <a:bodyPr/>
                    <a:lstStyle/>
                    <a:p>
                      <a:r>
                        <a:rPr sz="1400" b="0">
                          <a:solidFill>
                            <a:srgbClr val="4A5568"/>
                          </a:solidFill>
                          <a:latin typeface="Calibri"/>
                        </a:rPr>
                        <a:t>No - build first</a:t>
                      </a:r>
                    </a:p>
                  </a:txBody>
                  <a:tcPr marL="109728" marR="109728" marT="54864" marB="54864" anchor="ctr">
                    <a:solidFill>
                      <a:srgbClr val="FFFFFF"/>
                    </a:solidFill>
                  </a:tcPr>
                </a:tc>
                <a:extLst>
                  <a:ext uri="{0D108BD9-81ED-4DB2-BD59-A6C34878D82A}">
                    <a16:rowId xmlns:a16="http://schemas.microsoft.com/office/drawing/2014/main" val="10001"/>
                  </a:ext>
                </a:extLst>
              </a:tr>
              <a:tr h="475488">
                <a:tc>
                  <a:txBody>
                    <a:bodyPr/>
                    <a:lstStyle/>
                    <a:p>
                      <a:r>
                        <a:rPr sz="1400" b="1">
                          <a:solidFill>
                            <a:srgbClr val="14213D"/>
                          </a:solidFill>
                          <a:latin typeface="Calibri"/>
                        </a:rPr>
                        <a:t>Dependency on Kapture team</a:t>
                      </a:r>
                    </a:p>
                  </a:txBody>
                  <a:tcPr marL="109728" marR="109728" marT="54864" marB="54864" anchor="ctr">
                    <a:solidFill>
                      <a:srgbClr val="FFFFFF"/>
                    </a:solidFill>
                  </a:tcPr>
                </a:tc>
                <a:tc>
                  <a:txBody>
                    <a:bodyPr/>
                    <a:lstStyle/>
                    <a:p>
                      <a:r>
                        <a:rPr sz="1400" b="0">
                          <a:solidFill>
                            <a:srgbClr val="4A5568"/>
                          </a:solidFill>
                          <a:latin typeface="Calibri"/>
                        </a:rPr>
                        <a:t>High</a:t>
                      </a:r>
                    </a:p>
                  </a:txBody>
                  <a:tcPr marL="109728" marR="109728" marT="54864" marB="54864" anchor="ctr">
                    <a:solidFill>
                      <a:srgbClr val="FFFFFF"/>
                    </a:solidFill>
                  </a:tcPr>
                </a:tc>
                <a:tc>
                  <a:txBody>
                    <a:bodyPr/>
                    <a:lstStyle/>
                    <a:p>
                      <a:r>
                        <a:rPr sz="1400" b="0">
                          <a:solidFill>
                            <a:srgbClr val="4A5568"/>
                          </a:solidFill>
                          <a:latin typeface="Calibri"/>
                        </a:rPr>
                        <a:t>Low (server + cron)</a:t>
                      </a:r>
                    </a:p>
                  </a:txBody>
                  <a:tcPr marL="109728" marR="109728" marT="54864" marB="54864" anchor="ctr">
                    <a:solidFill>
                      <a:srgbClr val="FFFFFF"/>
                    </a:solidFill>
                  </a:tcPr>
                </a:tc>
                <a:tc>
                  <a:txBody>
                    <a:bodyPr/>
                    <a:lstStyle/>
                    <a:p>
                      <a:r>
                        <a:rPr sz="1400" b="1">
                          <a:solidFill>
                            <a:srgbClr val="1F5FA8"/>
                          </a:solidFill>
                          <a:latin typeface="Calibri"/>
                        </a:rPr>
                        <a:t>None  (strongest)</a:t>
                      </a:r>
                    </a:p>
                  </a:txBody>
                  <a:tcPr marL="109728" marR="109728" marT="54864" marB="54864" anchor="ctr">
                    <a:solidFill>
                      <a:srgbClr val="EEF3FA"/>
                    </a:solidFill>
                  </a:tcPr>
                </a:tc>
                <a:extLst>
                  <a:ext uri="{0D108BD9-81ED-4DB2-BD59-A6C34878D82A}">
                    <a16:rowId xmlns:a16="http://schemas.microsoft.com/office/drawing/2014/main" val="10002"/>
                  </a:ext>
                </a:extLst>
              </a:tr>
              <a:tr h="475488">
                <a:tc>
                  <a:txBody>
                    <a:bodyPr/>
                    <a:lstStyle/>
                    <a:p>
                      <a:r>
                        <a:rPr sz="1400" b="1">
                          <a:solidFill>
                            <a:srgbClr val="14213D"/>
                          </a:solidFill>
                          <a:latin typeface="Calibri"/>
                        </a:rPr>
                        <a:t>Change to one job</a:t>
                      </a:r>
                    </a:p>
                  </a:txBody>
                  <a:tcPr marL="109728" marR="109728" marT="54864" marB="54864" anchor="ctr">
                    <a:solidFill>
                      <a:srgbClr val="FFFFFF"/>
                    </a:solidFill>
                  </a:tcPr>
                </a:tc>
                <a:tc>
                  <a:txBody>
                    <a:bodyPr/>
                    <a:lstStyle/>
                    <a:p>
                      <a:r>
                        <a:rPr sz="1400" b="0">
                          <a:solidFill>
                            <a:srgbClr val="4A5568"/>
                          </a:solidFill>
                          <a:latin typeface="Calibri"/>
                        </a:rPr>
                        <a:t>Redeploy kAuthor API</a:t>
                      </a:r>
                    </a:p>
                  </a:txBody>
                  <a:tcPr marL="109728" marR="109728" marT="54864" marB="54864" anchor="ctr">
                    <a:solidFill>
                      <a:srgbClr val="FFFFFF"/>
                    </a:solidFill>
                  </a:tcPr>
                </a:tc>
                <a:tc>
                  <a:txBody>
                    <a:bodyPr/>
                    <a:lstStyle/>
                    <a:p>
                      <a:r>
                        <a:rPr sz="1400" b="1">
                          <a:solidFill>
                            <a:srgbClr val="1F5FA8"/>
                          </a:solidFill>
                          <a:latin typeface="Calibri"/>
                        </a:rPr>
                        <a:t>Replace one jar  (strongest)</a:t>
                      </a:r>
                    </a:p>
                  </a:txBody>
                  <a:tcPr marL="109728" marR="109728" marT="54864" marB="54864" anchor="ctr">
                    <a:solidFill>
                      <a:srgbClr val="EEF3FA"/>
                    </a:solidFill>
                  </a:tcPr>
                </a:tc>
                <a:tc>
                  <a:txBody>
                    <a:bodyPr/>
                    <a:lstStyle/>
                    <a:p>
                      <a:r>
                        <a:rPr sz="1400" b="1">
                          <a:solidFill>
                            <a:srgbClr val="1F5FA8"/>
                          </a:solidFill>
                          <a:latin typeface="Calibri"/>
                        </a:rPr>
                        <a:t>Replace one jar  (strongest)</a:t>
                      </a:r>
                    </a:p>
                  </a:txBody>
                  <a:tcPr marL="109728" marR="109728" marT="54864" marB="54864" anchor="ctr">
                    <a:solidFill>
                      <a:srgbClr val="EEF3FA"/>
                    </a:solidFill>
                  </a:tcPr>
                </a:tc>
                <a:extLst>
                  <a:ext uri="{0D108BD9-81ED-4DB2-BD59-A6C34878D82A}">
                    <a16:rowId xmlns:a16="http://schemas.microsoft.com/office/drawing/2014/main" val="10003"/>
                  </a:ext>
                </a:extLst>
              </a:tr>
              <a:tr h="475488">
                <a:tc>
                  <a:txBody>
                    <a:bodyPr/>
                    <a:lstStyle/>
                    <a:p>
                      <a:r>
                        <a:rPr sz="1400" b="1">
                          <a:solidFill>
                            <a:srgbClr val="14213D"/>
                          </a:solidFill>
                          <a:latin typeface="Calibri"/>
                        </a:rPr>
                        <a:t>Effect on users during a change</a:t>
                      </a:r>
                    </a:p>
                  </a:txBody>
                  <a:tcPr marL="109728" marR="109728" marT="54864" marB="54864" anchor="ctr">
                    <a:solidFill>
                      <a:srgbClr val="FFFFFF"/>
                    </a:solidFill>
                  </a:tcPr>
                </a:tc>
                <a:tc>
                  <a:txBody>
                    <a:bodyPr/>
                    <a:lstStyle/>
                    <a:p>
                      <a:r>
                        <a:rPr sz="1400" b="0">
                          <a:solidFill>
                            <a:srgbClr val="4A5568"/>
                          </a:solidFill>
                          <a:latin typeface="Calibri"/>
                        </a:rPr>
                        <a:t>kAuthor API restart</a:t>
                      </a:r>
                    </a:p>
                  </a:txBody>
                  <a:tcPr marL="109728" marR="109728" marT="54864" marB="54864" anchor="ctr">
                    <a:solidFill>
                      <a:srgbClr val="FFFFFF"/>
                    </a:solidFill>
                  </a:tcPr>
                </a:tc>
                <a:tc>
                  <a:txBody>
                    <a:bodyPr/>
                    <a:lstStyle/>
                    <a:p>
                      <a:r>
                        <a:rPr sz="1400" b="1">
                          <a:solidFill>
                            <a:srgbClr val="1F5FA8"/>
                          </a:solidFill>
                          <a:latin typeface="Calibri"/>
                        </a:rPr>
                        <a:t>None  (strongest)</a:t>
                      </a:r>
                    </a:p>
                  </a:txBody>
                  <a:tcPr marL="109728" marR="109728" marT="54864" marB="54864" anchor="ctr">
                    <a:solidFill>
                      <a:srgbClr val="EEF3FA"/>
                    </a:solidFill>
                  </a:tcPr>
                </a:tc>
                <a:tc>
                  <a:txBody>
                    <a:bodyPr/>
                    <a:lstStyle/>
                    <a:p>
                      <a:r>
                        <a:rPr sz="1400" b="1">
                          <a:solidFill>
                            <a:srgbClr val="1F5FA8"/>
                          </a:solidFill>
                          <a:latin typeface="Calibri"/>
                        </a:rPr>
                        <a:t>None  (strongest)</a:t>
                      </a:r>
                    </a:p>
                  </a:txBody>
                  <a:tcPr marL="109728" marR="109728" marT="54864" marB="54864" anchor="ctr">
                    <a:solidFill>
                      <a:srgbClr val="EEF3FA"/>
                    </a:solidFill>
                  </a:tcPr>
                </a:tc>
                <a:extLst>
                  <a:ext uri="{0D108BD9-81ED-4DB2-BD59-A6C34878D82A}">
                    <a16:rowId xmlns:a16="http://schemas.microsoft.com/office/drawing/2014/main" val="10004"/>
                  </a:ext>
                </a:extLst>
              </a:tr>
              <a:tr h="475488">
                <a:tc>
                  <a:txBody>
                    <a:bodyPr/>
                    <a:lstStyle/>
                    <a:p>
                      <a:r>
                        <a:rPr sz="1400" b="1">
                          <a:solidFill>
                            <a:srgbClr val="14213D"/>
                          </a:solidFill>
                          <a:latin typeface="Calibri"/>
                        </a:rPr>
                        <a:t>Changing a schedule</a:t>
                      </a:r>
                    </a:p>
                  </a:txBody>
                  <a:tcPr marL="109728" marR="109728" marT="54864" marB="54864" anchor="ctr">
                    <a:solidFill>
                      <a:srgbClr val="FFFFFF"/>
                    </a:solidFill>
                  </a:tcPr>
                </a:tc>
                <a:tc>
                  <a:txBody>
                    <a:bodyPr/>
                    <a:lstStyle/>
                    <a:p>
                      <a:r>
                        <a:rPr sz="1400" b="0">
                          <a:solidFill>
                            <a:srgbClr val="4A5568"/>
                          </a:solidFill>
                          <a:latin typeface="Calibri"/>
                        </a:rPr>
                        <a:t>kAuthor tool</a:t>
                      </a:r>
                    </a:p>
                  </a:txBody>
                  <a:tcPr marL="109728" marR="109728" marT="54864" marB="54864" anchor="ctr">
                    <a:solidFill>
                      <a:srgbClr val="FFFFFF"/>
                    </a:solidFill>
                  </a:tcPr>
                </a:tc>
                <a:tc>
                  <a:txBody>
                    <a:bodyPr/>
                    <a:lstStyle/>
                    <a:p>
                      <a:r>
                        <a:rPr sz="1400" b="0">
                          <a:solidFill>
                            <a:srgbClr val="4A5568"/>
                          </a:solidFill>
                          <a:latin typeface="Calibri"/>
                        </a:rPr>
                        <a:t>crontab edit (admin)</a:t>
                      </a:r>
                    </a:p>
                  </a:txBody>
                  <a:tcPr marL="109728" marR="109728" marT="54864" marB="54864" anchor="ctr">
                    <a:solidFill>
                      <a:srgbClr val="FFFFFF"/>
                    </a:solidFill>
                  </a:tcPr>
                </a:tc>
                <a:tc>
                  <a:txBody>
                    <a:bodyPr/>
                    <a:lstStyle/>
                    <a:p>
                      <a:r>
                        <a:rPr sz="1400" b="1">
                          <a:solidFill>
                            <a:srgbClr val="1F5FA8"/>
                          </a:solidFill>
                          <a:latin typeface="Calibri"/>
                        </a:rPr>
                        <a:t>Web app screen  (strongest)</a:t>
                      </a:r>
                    </a:p>
                  </a:txBody>
                  <a:tcPr marL="109728" marR="109728" marT="54864" marB="54864" anchor="ctr">
                    <a:solidFill>
                      <a:srgbClr val="EEF3FA"/>
                    </a:solidFill>
                  </a:tcPr>
                </a:tc>
                <a:extLst>
                  <a:ext uri="{0D108BD9-81ED-4DB2-BD59-A6C34878D82A}">
                    <a16:rowId xmlns:a16="http://schemas.microsoft.com/office/drawing/2014/main" val="10005"/>
                  </a:ext>
                </a:extLst>
              </a:tr>
              <a:tr h="475488">
                <a:tc>
                  <a:txBody>
                    <a:bodyPr/>
                    <a:lstStyle/>
                    <a:p>
                      <a:r>
                        <a:rPr sz="1400" b="1">
                          <a:solidFill>
                            <a:srgbClr val="14213D"/>
                          </a:solidFill>
                          <a:latin typeface="Calibri"/>
                        </a:rPr>
                        <a:t>Run history for the business</a:t>
                      </a:r>
                    </a:p>
                  </a:txBody>
                  <a:tcPr marL="109728" marR="109728" marT="54864" marB="54864" anchor="ctr">
                    <a:solidFill>
                      <a:srgbClr val="FFFFFF"/>
                    </a:solidFill>
                  </a:tcPr>
                </a:tc>
                <a:tc>
                  <a:txBody>
                    <a:bodyPr/>
                    <a:lstStyle/>
                    <a:p>
                      <a:r>
                        <a:rPr sz="1400" b="0">
                          <a:solidFill>
                            <a:srgbClr val="4A5568"/>
                          </a:solidFill>
                          <a:latin typeface="Calibri"/>
                        </a:rPr>
                        <a:t>kAuthor tool</a:t>
                      </a:r>
                    </a:p>
                  </a:txBody>
                  <a:tcPr marL="109728" marR="109728" marT="54864" marB="54864" anchor="ctr">
                    <a:solidFill>
                      <a:srgbClr val="FFFFFF"/>
                    </a:solidFill>
                  </a:tcPr>
                </a:tc>
                <a:tc>
                  <a:txBody>
                    <a:bodyPr/>
                    <a:lstStyle/>
                    <a:p>
                      <a:r>
                        <a:rPr sz="1400" b="0">
                          <a:solidFill>
                            <a:srgbClr val="4A5568"/>
                          </a:solidFill>
                          <a:latin typeface="Calibri"/>
                        </a:rPr>
                        <a:t>Tables, logs, mails</a:t>
                      </a:r>
                    </a:p>
                  </a:txBody>
                  <a:tcPr marL="109728" marR="109728" marT="54864" marB="54864" anchor="ctr">
                    <a:solidFill>
                      <a:srgbClr val="FFFFFF"/>
                    </a:solidFill>
                  </a:tcPr>
                </a:tc>
                <a:tc>
                  <a:txBody>
                    <a:bodyPr/>
                    <a:lstStyle/>
                    <a:p>
                      <a:r>
                        <a:rPr sz="1400" b="1">
                          <a:solidFill>
                            <a:srgbClr val="1F5FA8"/>
                          </a:solidFill>
                          <a:latin typeface="Calibri"/>
                        </a:rPr>
                        <a:t>Web app screen  (strongest)</a:t>
                      </a:r>
                    </a:p>
                  </a:txBody>
                  <a:tcPr marL="109728" marR="109728" marT="54864" marB="54864" anchor="ctr">
                    <a:solidFill>
                      <a:srgbClr val="EEF3FA"/>
                    </a:solidFill>
                  </a:tcPr>
                </a:tc>
                <a:extLst>
                  <a:ext uri="{0D108BD9-81ED-4DB2-BD59-A6C34878D82A}">
                    <a16:rowId xmlns:a16="http://schemas.microsoft.com/office/drawing/2014/main" val="10006"/>
                  </a:ext>
                </a:extLst>
              </a:tr>
              <a:tr h="475488">
                <a:tc>
                  <a:txBody>
                    <a:bodyPr/>
                    <a:lstStyle/>
                    <a:p>
                      <a:r>
                        <a:rPr sz="1400" b="1">
                          <a:solidFill>
                            <a:srgbClr val="14213D"/>
                          </a:solidFill>
                          <a:latin typeface="Calibri"/>
                        </a:rPr>
                        <a:t>Failure isolation</a:t>
                      </a:r>
                    </a:p>
                  </a:txBody>
                  <a:tcPr marL="109728" marR="109728" marT="54864" marB="54864" anchor="ctr">
                    <a:solidFill>
                      <a:srgbClr val="FFFFFF"/>
                    </a:solidFill>
                  </a:tcPr>
                </a:tc>
                <a:tc>
                  <a:txBody>
                    <a:bodyPr/>
                    <a:lstStyle/>
                    <a:p>
                      <a:r>
                        <a:rPr sz="1400" b="0">
                          <a:solidFill>
                            <a:srgbClr val="4A5568"/>
                          </a:solidFill>
                          <a:latin typeface="Calibri"/>
                        </a:rPr>
                        <a:t>Shared with the API</a:t>
                      </a:r>
                    </a:p>
                  </a:txBody>
                  <a:tcPr marL="109728" marR="109728" marT="54864" marB="54864" anchor="ctr">
                    <a:solidFill>
                      <a:srgbClr val="FFFFFF"/>
                    </a:solidFill>
                  </a:tcPr>
                </a:tc>
                <a:tc>
                  <a:txBody>
                    <a:bodyPr/>
                    <a:lstStyle/>
                    <a:p>
                      <a:r>
                        <a:rPr sz="1400" b="1">
                          <a:solidFill>
                            <a:srgbClr val="1F5FA8"/>
                          </a:solidFill>
                          <a:latin typeface="Calibri"/>
                        </a:rPr>
                        <a:t>Own process per job  (strongest)</a:t>
                      </a:r>
                    </a:p>
                  </a:txBody>
                  <a:tcPr marL="109728" marR="109728" marT="54864" marB="54864" anchor="ctr">
                    <a:solidFill>
                      <a:srgbClr val="EEF3FA"/>
                    </a:solidFill>
                  </a:tcPr>
                </a:tc>
                <a:tc>
                  <a:txBody>
                    <a:bodyPr/>
                    <a:lstStyle/>
                    <a:p>
                      <a:r>
                        <a:rPr sz="1400" b="1">
                          <a:solidFill>
                            <a:srgbClr val="1F5FA8"/>
                          </a:solidFill>
                          <a:latin typeface="Calibri"/>
                        </a:rPr>
                        <a:t>Own process per job  (strongest)</a:t>
                      </a:r>
                    </a:p>
                  </a:txBody>
                  <a:tcPr marL="109728" marR="109728" marT="54864" marB="54864" anchor="ctr">
                    <a:solidFill>
                      <a:srgbClr val="EEF3FA"/>
                    </a:solidFill>
                  </a:tcPr>
                </a:tc>
                <a:extLst>
                  <a:ext uri="{0D108BD9-81ED-4DB2-BD59-A6C34878D82A}">
                    <a16:rowId xmlns:a16="http://schemas.microsoft.com/office/drawing/2014/main" val="10007"/>
                  </a:ext>
                </a:extLst>
              </a:tr>
              <a:tr h="475488">
                <a:tc>
                  <a:txBody>
                    <a:bodyPr/>
                    <a:lstStyle/>
                    <a:p>
                      <a:r>
                        <a:rPr sz="1400" b="1">
                          <a:solidFill>
                            <a:srgbClr val="14213D"/>
                          </a:solidFill>
                          <a:latin typeface="Calibri"/>
                        </a:rPr>
                        <a:t>New development needed</a:t>
                      </a:r>
                    </a:p>
                  </a:txBody>
                  <a:tcPr marL="109728" marR="109728" marT="54864" marB="54864" anchor="ctr">
                    <a:solidFill>
                      <a:srgbClr val="FFFFFF"/>
                    </a:solidFill>
                  </a:tcPr>
                </a:tc>
                <a:tc>
                  <a:txBody>
                    <a:bodyPr/>
                    <a:lstStyle/>
                    <a:p>
                      <a:r>
                        <a:rPr sz="1400" b="0">
                          <a:solidFill>
                            <a:srgbClr val="4A5568"/>
                          </a:solidFill>
                          <a:latin typeface="Calibri"/>
                        </a:rPr>
                        <a:t>Merge + adapt</a:t>
                      </a:r>
                    </a:p>
                  </a:txBody>
                  <a:tcPr marL="109728" marR="109728" marT="54864" marB="54864" anchor="ctr">
                    <a:solidFill>
                      <a:srgbClr val="FFFFFF"/>
                    </a:solidFill>
                  </a:tcPr>
                </a:tc>
                <a:tc>
                  <a:txBody>
                    <a:bodyPr/>
                    <a:lstStyle/>
                    <a:p>
                      <a:r>
                        <a:rPr sz="1400" b="1">
                          <a:solidFill>
                            <a:srgbClr val="1F5FA8"/>
                          </a:solidFill>
                          <a:latin typeface="Calibri"/>
                        </a:rPr>
                        <a:t>None  (strongest)</a:t>
                      </a:r>
                    </a:p>
                  </a:txBody>
                  <a:tcPr marL="109728" marR="109728" marT="54864" marB="54864" anchor="ctr">
                    <a:solidFill>
                      <a:srgbClr val="EEF3FA"/>
                    </a:solidFill>
                  </a:tcPr>
                </a:tc>
                <a:tc>
                  <a:txBody>
                    <a:bodyPr/>
                    <a:lstStyle/>
                    <a:p>
                      <a:r>
                        <a:rPr sz="1400" b="0">
                          <a:solidFill>
                            <a:srgbClr val="4A5568"/>
                          </a:solidFill>
                          <a:latin typeface="Calibri"/>
                        </a:rPr>
                        <a:t>High (new app)</a:t>
                      </a:r>
                    </a:p>
                  </a:txBody>
                  <a:tcPr marL="109728" marR="109728" marT="54864" marB="54864" anchor="ctr">
                    <a:solidFill>
                      <a:srgbClr val="FFFFFF"/>
                    </a:solidFill>
                  </a:tcPr>
                </a:tc>
                <a:extLst>
                  <a:ext uri="{0D108BD9-81ED-4DB2-BD59-A6C34878D82A}">
                    <a16:rowId xmlns:a16="http://schemas.microsoft.com/office/drawing/2014/main" val="10008"/>
                  </a:ext>
                </a:extLst>
              </a:tr>
            </a:tbl>
          </a:graphicData>
        </a:graphic>
      </p:graphicFrame>
      <p:sp>
        <p:nvSpPr>
          <p:cNvPr id="4" name="Summary band"/>
          <p:cNvSpPr/>
          <p:nvPr/>
        </p:nvSpPr>
        <p:spPr>
          <a:xfrm>
            <a:off x="548640" y="5760720"/>
            <a:ext cx="11094415" cy="502920"/>
          </a:xfrm>
          <a:prstGeom prst="roundRect">
            <a:avLst>
              <a:gd name="adj" fmla="val 12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ummary"/>
          <p:cNvSpPr txBox="1"/>
          <p:nvPr/>
        </p:nvSpPr>
        <p:spPr>
          <a:xfrm>
            <a:off x="777240" y="5760720"/>
            <a:ext cx="10637215" cy="502920"/>
          </a:xfrm>
          <a:prstGeom prst="rect">
            <a:avLst/>
          </a:prstGeom>
          <a:noFill/>
        </p:spPr>
        <p:txBody>
          <a:bodyPr wrap="square" lIns="0" tIns="0" rIns="0" bIns="0" anchor="ctr">
            <a:spAutoFit/>
          </a:bodyPr>
          <a:lstStyle/>
          <a:p>
            <a:pPr algn="l">
              <a:spcAft>
                <a:spcPts val="0"/>
              </a:spcAft>
            </a:pPr>
            <a:r>
              <a:rPr sz="1500" b="0" i="0">
                <a:solidFill>
                  <a:srgbClr val="1B2433"/>
                </a:solidFill>
                <a:latin typeface="Calibri"/>
              </a:rPr>
              <a:t>Option 3 adds screens on top of Option 2's strengths, but must be built first; Option 2 is the only one ready to deploy now.</a:t>
            </a:r>
          </a:p>
        </p:txBody>
      </p:sp>
      <p:sp>
        <p:nvSpPr>
          <p:cNvPr id="6" name="Footer"/>
          <p:cNvSpPr txBox="1"/>
          <p:nvPr/>
        </p:nvSpPr>
        <p:spPr>
          <a:xfrm>
            <a:off x="548640" y="6400800"/>
            <a:ext cx="8229600" cy="274320"/>
          </a:xfrm>
          <a:prstGeom prst="rect">
            <a:avLst/>
          </a:prstGeom>
          <a:noFill/>
        </p:spPr>
        <p:txBody>
          <a:bodyPr wrap="square" lIns="0" tIns="0" rIns="0" bIns="0" anchor="t">
            <a:spAutoFit/>
          </a:bodyPr>
          <a:lstStyle/>
          <a:p>
            <a:pPr algn="l">
              <a:spcAft>
                <a:spcPts val="0"/>
              </a:spcAft>
            </a:pPr>
            <a:r>
              <a:rPr sz="1100" b="0" i="0">
                <a:solidFill>
                  <a:srgbClr val="4A5568"/>
                </a:solidFill>
                <a:latin typeface="Calibri"/>
              </a:rPr>
              <a:t>Kapture Batch Jobs - Deployment Options</a:t>
            </a:r>
          </a:p>
        </p:txBody>
      </p:sp>
      <p:sp>
        <p:nvSpPr>
          <p:cNvPr id="7" name="Slide number"/>
          <p:cNvSpPr txBox="1"/>
          <p:nvPr/>
        </p:nvSpPr>
        <p:spPr>
          <a:xfrm>
            <a:off x="10728655" y="6400800"/>
            <a:ext cx="914400" cy="274320"/>
          </a:xfrm>
          <a:prstGeom prst="rect">
            <a:avLst/>
          </a:prstGeom>
          <a:noFill/>
        </p:spPr>
        <p:txBody>
          <a:bodyPr wrap="square" lIns="0" tIns="0" rIns="0" bIns="0" anchor="t">
            <a:spAutoFit/>
          </a:bodyPr>
          <a:lstStyle/>
          <a:p>
            <a:pPr algn="r">
              <a:spcAft>
                <a:spcPts val="0"/>
              </a:spcAft>
            </a:pPr>
            <a:r>
              <a:rPr sz="1100" b="0" i="0">
                <a:solidFill>
                  <a:srgbClr val="4A5568"/>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Eyebrow"/>
          <p:cNvSpPr txBox="1"/>
          <p:nvPr/>
        </p:nvSpPr>
        <p:spPr>
          <a:xfrm>
            <a:off x="548640" y="502920"/>
            <a:ext cx="7315200" cy="365760"/>
          </a:xfrm>
          <a:prstGeom prst="rect">
            <a:avLst/>
          </a:prstGeom>
          <a:noFill/>
        </p:spPr>
        <p:txBody>
          <a:bodyPr wrap="square" lIns="0" tIns="0" rIns="0" bIns="0" anchor="t">
            <a:spAutoFit/>
          </a:bodyPr>
          <a:lstStyle/>
          <a:p>
            <a:pPr algn="l">
              <a:spcAft>
                <a:spcPts val="0"/>
              </a:spcAft>
            </a:pPr>
            <a:r>
              <a:rPr sz="1600" b="1" i="0">
                <a:solidFill>
                  <a:srgbClr val="F2A65A"/>
                </a:solidFill>
                <a:latin typeface="Calibri"/>
              </a:rPr>
              <a:t>RECOMMENDATION</a:t>
            </a:r>
          </a:p>
        </p:txBody>
      </p:sp>
      <p:sp>
        <p:nvSpPr>
          <p:cNvPr id="3" name="Title"/>
          <p:cNvSpPr txBox="1"/>
          <p:nvPr/>
        </p:nvSpPr>
        <p:spPr>
          <a:xfrm>
            <a:off x="548640" y="914400"/>
            <a:ext cx="11094415" cy="822960"/>
          </a:xfrm>
          <a:prstGeom prst="rect">
            <a:avLst/>
          </a:prstGeom>
          <a:noFill/>
        </p:spPr>
        <p:txBody>
          <a:bodyPr wrap="square" lIns="0" tIns="0" rIns="0" bIns="0" anchor="t">
            <a:spAutoFit/>
          </a:bodyPr>
          <a:lstStyle/>
          <a:p>
            <a:pPr algn="l">
              <a:spcAft>
                <a:spcPts val="0"/>
              </a:spcAft>
            </a:pPr>
            <a:r>
              <a:rPr sz="3800" b="1" i="0">
                <a:solidFill>
                  <a:srgbClr val="FFFFFF"/>
                </a:solidFill>
                <a:latin typeface="Calibri"/>
              </a:rPr>
              <a:t>Option 2 now - standalone jars, scheduled by cron</a:t>
            </a:r>
          </a:p>
        </p:txBody>
      </p:sp>
      <p:sp>
        <p:nvSpPr>
          <p:cNvPr id="4" name="Reason card 1"/>
          <p:cNvSpPr/>
          <p:nvPr/>
        </p:nvSpPr>
        <p:spPr>
          <a:xfrm>
            <a:off x="548640" y="2148840"/>
            <a:ext cx="3515258" cy="2514600"/>
          </a:xfrm>
          <a:prstGeom prst="roundRect">
            <a:avLst>
              <a:gd name="adj" fmla="val 5000"/>
            </a:avLst>
          </a:prstGeom>
          <a:solidFill>
            <a:srgbClr val="22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ason badge 1"/>
          <p:cNvSpPr/>
          <p:nvPr/>
        </p:nvSpPr>
        <p:spPr>
          <a:xfrm>
            <a:off x="868680" y="2423160"/>
            <a:ext cx="502920" cy="502920"/>
          </a:xfrm>
          <a:prstGeom prst="ellipse">
            <a:avLst/>
          </a:prstGeom>
          <a:solidFill>
            <a:srgbClr val="F2A6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14213D"/>
                </a:solidFill>
                <a:latin typeface="Calibri"/>
              </a:rPr>
              <a:t>1</a:t>
            </a:r>
          </a:p>
        </p:txBody>
      </p:sp>
      <p:sp>
        <p:nvSpPr>
          <p:cNvPr id="6" name="Reason 1 heading"/>
          <p:cNvSpPr txBox="1"/>
          <p:nvPr/>
        </p:nvSpPr>
        <p:spPr>
          <a:xfrm>
            <a:off x="868680" y="3108960"/>
            <a:ext cx="2875178" cy="411480"/>
          </a:xfrm>
          <a:prstGeom prst="rect">
            <a:avLst/>
          </a:prstGeom>
          <a:noFill/>
        </p:spPr>
        <p:txBody>
          <a:bodyPr wrap="square" lIns="0" tIns="0" rIns="0" bIns="0" anchor="t">
            <a:spAutoFit/>
          </a:bodyPr>
          <a:lstStyle/>
          <a:p>
            <a:pPr algn="l">
              <a:spcAft>
                <a:spcPts val="0"/>
              </a:spcAft>
            </a:pPr>
            <a:r>
              <a:rPr sz="2200" b="1" i="0">
                <a:solidFill>
                  <a:srgbClr val="FFFFFF"/>
                </a:solidFill>
                <a:latin typeface="Calibri"/>
              </a:rPr>
              <a:t>Ready now</a:t>
            </a:r>
          </a:p>
        </p:txBody>
      </p:sp>
      <p:sp>
        <p:nvSpPr>
          <p:cNvPr id="7" name="Reason 1 text"/>
          <p:cNvSpPr txBox="1"/>
          <p:nvPr/>
        </p:nvSpPr>
        <p:spPr>
          <a:xfrm>
            <a:off x="868680" y="3566160"/>
            <a:ext cx="2875178" cy="1051560"/>
          </a:xfrm>
          <a:prstGeom prst="rect">
            <a:avLst/>
          </a:prstGeom>
          <a:noFill/>
        </p:spPr>
        <p:txBody>
          <a:bodyPr wrap="square" lIns="0" tIns="0" rIns="0" bIns="0" anchor="t">
            <a:spAutoFit/>
          </a:bodyPr>
          <a:lstStyle/>
          <a:p>
            <a:pPr algn="l">
              <a:spcAft>
                <a:spcPts val="0"/>
              </a:spcAft>
            </a:pPr>
            <a:r>
              <a:rPr sz="1500" b="0" i="0">
                <a:solidFill>
                  <a:srgbClr val="C9D3E3"/>
                </a:solidFill>
                <a:latin typeface="Calibri"/>
              </a:rPr>
              <a:t>8 packages built, configured for MC Dev and tested. Deployment is a copy, a config check and a crontab entry per job.</a:t>
            </a:r>
          </a:p>
        </p:txBody>
      </p:sp>
      <p:sp>
        <p:nvSpPr>
          <p:cNvPr id="8" name="Reason card 2"/>
          <p:cNvSpPr/>
          <p:nvPr/>
        </p:nvSpPr>
        <p:spPr>
          <a:xfrm>
            <a:off x="4338218" y="2148840"/>
            <a:ext cx="3515258" cy="2514600"/>
          </a:xfrm>
          <a:prstGeom prst="roundRect">
            <a:avLst>
              <a:gd name="adj" fmla="val 5000"/>
            </a:avLst>
          </a:prstGeom>
          <a:solidFill>
            <a:srgbClr val="22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ason badge 2"/>
          <p:cNvSpPr/>
          <p:nvPr/>
        </p:nvSpPr>
        <p:spPr>
          <a:xfrm>
            <a:off x="4658258" y="2423160"/>
            <a:ext cx="502920" cy="502920"/>
          </a:xfrm>
          <a:prstGeom prst="ellipse">
            <a:avLst/>
          </a:prstGeom>
          <a:solidFill>
            <a:srgbClr val="F2A6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14213D"/>
                </a:solidFill>
                <a:latin typeface="Calibri"/>
              </a:rPr>
              <a:t>2</a:t>
            </a:r>
          </a:p>
        </p:txBody>
      </p:sp>
      <p:sp>
        <p:nvSpPr>
          <p:cNvPr id="10" name="Reason 2 heading"/>
          <p:cNvSpPr txBox="1"/>
          <p:nvPr/>
        </p:nvSpPr>
        <p:spPr>
          <a:xfrm>
            <a:off x="4658258" y="3108960"/>
            <a:ext cx="2875178" cy="411480"/>
          </a:xfrm>
          <a:prstGeom prst="rect">
            <a:avLst/>
          </a:prstGeom>
          <a:noFill/>
        </p:spPr>
        <p:txBody>
          <a:bodyPr wrap="square" lIns="0" tIns="0" rIns="0" bIns="0" anchor="t">
            <a:spAutoFit/>
          </a:bodyPr>
          <a:lstStyle/>
          <a:p>
            <a:pPr algn="l">
              <a:spcAft>
                <a:spcPts val="0"/>
              </a:spcAft>
            </a:pPr>
            <a:r>
              <a:rPr sz="2200" b="1" i="0">
                <a:solidFill>
                  <a:srgbClr val="FFFFFF"/>
                </a:solidFill>
                <a:latin typeface="Calibri"/>
              </a:rPr>
              <a:t>Lowest risk</a:t>
            </a:r>
          </a:p>
        </p:txBody>
      </p:sp>
      <p:sp>
        <p:nvSpPr>
          <p:cNvPr id="11" name="Reason 2 text"/>
          <p:cNvSpPr txBox="1"/>
          <p:nvPr/>
        </p:nvSpPr>
        <p:spPr>
          <a:xfrm>
            <a:off x="4658258" y="3566160"/>
            <a:ext cx="2875178" cy="1051560"/>
          </a:xfrm>
          <a:prstGeom prst="rect">
            <a:avLst/>
          </a:prstGeom>
          <a:noFill/>
        </p:spPr>
        <p:txBody>
          <a:bodyPr wrap="square" lIns="0" tIns="0" rIns="0" bIns="0" anchor="t">
            <a:spAutoFit/>
          </a:bodyPr>
          <a:lstStyle/>
          <a:p>
            <a:pPr algn="l">
              <a:spcAft>
                <a:spcPts val="0"/>
              </a:spcAft>
            </a:pPr>
            <a:r>
              <a:rPr sz="1500" b="0" i="0">
                <a:solidFill>
                  <a:srgbClr val="C9D3E3"/>
                </a:solidFill>
                <a:latin typeface="Calibri"/>
              </a:rPr>
              <a:t>No change to kAuthor, MDM or DMT. Each job runs in its own process; a change replaces one jar.</a:t>
            </a:r>
          </a:p>
        </p:txBody>
      </p:sp>
      <p:sp>
        <p:nvSpPr>
          <p:cNvPr id="12" name="Reason card 3"/>
          <p:cNvSpPr/>
          <p:nvPr/>
        </p:nvSpPr>
        <p:spPr>
          <a:xfrm>
            <a:off x="8127796" y="2148840"/>
            <a:ext cx="3515258" cy="2514600"/>
          </a:xfrm>
          <a:prstGeom prst="roundRect">
            <a:avLst>
              <a:gd name="adj" fmla="val 5000"/>
            </a:avLst>
          </a:prstGeom>
          <a:solidFill>
            <a:srgbClr val="22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ason badge 3"/>
          <p:cNvSpPr/>
          <p:nvPr/>
        </p:nvSpPr>
        <p:spPr>
          <a:xfrm>
            <a:off x="8447836" y="2423160"/>
            <a:ext cx="502920" cy="502920"/>
          </a:xfrm>
          <a:prstGeom prst="ellipse">
            <a:avLst/>
          </a:prstGeom>
          <a:solidFill>
            <a:srgbClr val="F2A6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14213D"/>
                </a:solidFill>
                <a:latin typeface="Calibri"/>
              </a:rPr>
              <a:t>3</a:t>
            </a:r>
          </a:p>
        </p:txBody>
      </p:sp>
      <p:sp>
        <p:nvSpPr>
          <p:cNvPr id="14" name="Reason 3 heading"/>
          <p:cNvSpPr txBox="1"/>
          <p:nvPr/>
        </p:nvSpPr>
        <p:spPr>
          <a:xfrm>
            <a:off x="8447836" y="3108960"/>
            <a:ext cx="2875178" cy="411480"/>
          </a:xfrm>
          <a:prstGeom prst="rect">
            <a:avLst/>
          </a:prstGeom>
          <a:noFill/>
        </p:spPr>
        <p:txBody>
          <a:bodyPr wrap="square" lIns="0" tIns="0" rIns="0" bIns="0" anchor="t">
            <a:spAutoFit/>
          </a:bodyPr>
          <a:lstStyle/>
          <a:p>
            <a:pPr algn="l">
              <a:spcAft>
                <a:spcPts val="0"/>
              </a:spcAft>
            </a:pPr>
            <a:r>
              <a:rPr sz="2200" b="1" i="0">
                <a:solidFill>
                  <a:srgbClr val="FFFFFF"/>
                </a:solidFill>
                <a:latin typeface="Calibri"/>
              </a:rPr>
              <a:t>Proven pattern</a:t>
            </a:r>
          </a:p>
        </p:txBody>
      </p:sp>
      <p:sp>
        <p:nvSpPr>
          <p:cNvPr id="15" name="Reason 3 text"/>
          <p:cNvSpPr txBox="1"/>
          <p:nvPr/>
        </p:nvSpPr>
        <p:spPr>
          <a:xfrm>
            <a:off x="8447836" y="3566160"/>
            <a:ext cx="2875178" cy="1051560"/>
          </a:xfrm>
          <a:prstGeom prst="rect">
            <a:avLst/>
          </a:prstGeom>
          <a:noFill/>
        </p:spPr>
        <p:txBody>
          <a:bodyPr wrap="square" lIns="0" tIns="0" rIns="0" bIns="0" anchor="t">
            <a:spAutoFit/>
          </a:bodyPr>
          <a:lstStyle/>
          <a:p>
            <a:pPr algn="l">
              <a:spcAft>
                <a:spcPts val="0"/>
              </a:spcAft>
            </a:pPr>
            <a:r>
              <a:rPr sz="1500" b="0" i="0">
                <a:solidFill>
                  <a:srgbClr val="C9D3E3"/>
                </a:solidFill>
                <a:latin typeface="Calibri"/>
              </a:rPr>
              <a:t>Same deployment model as the MGSS Bulk Extract &amp; Transfer jobs: jar, run script and cron on the server.</a:t>
            </a:r>
          </a:p>
        </p:txBody>
      </p:sp>
      <p:sp>
        <p:nvSpPr>
          <p:cNvPr id="16" name="Later box"/>
          <p:cNvSpPr/>
          <p:nvPr/>
        </p:nvSpPr>
        <p:spPr>
          <a:xfrm>
            <a:off x="548640" y="5029200"/>
            <a:ext cx="11094415" cy="914400"/>
          </a:xfrm>
          <a:prstGeom prst="roundRect">
            <a:avLst>
              <a:gd name="adj" fmla="val 10000"/>
            </a:avLst>
          </a:prstGeom>
          <a:noFill/>
          <a:ln w="12700">
            <a:solidFill>
              <a:srgbClr val="F2A6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Later text"/>
          <p:cNvSpPr txBox="1"/>
          <p:nvPr/>
        </p:nvSpPr>
        <p:spPr>
          <a:xfrm>
            <a:off x="822960" y="5029200"/>
            <a:ext cx="10545775" cy="914400"/>
          </a:xfrm>
          <a:prstGeom prst="rect">
            <a:avLst/>
          </a:prstGeom>
          <a:noFill/>
        </p:spPr>
        <p:txBody>
          <a:bodyPr wrap="square" lIns="0" tIns="0" rIns="0" bIns="0" anchor="ctr">
            <a:spAutoFit/>
          </a:bodyPr>
          <a:lstStyle/>
          <a:p>
            <a:pPr algn="l">
              <a:spcAft>
                <a:spcPts val="0"/>
              </a:spcAft>
            </a:pPr>
            <a:r>
              <a:rPr sz="1600" b="0" i="0">
                <a:solidFill>
                  <a:srgbClr val="FFFFFF"/>
                </a:solidFill>
                <a:latin typeface="Calibri"/>
              </a:rPr>
              <a:t>Optional phase 2: the new scheduler web app (Option 3) starts these same 8 packages - it adds screens for schedules and history, and nothing built now is thrown away.</a:t>
            </a:r>
          </a:p>
        </p:txBody>
      </p:sp>
      <p:sp>
        <p:nvSpPr>
          <p:cNvPr id="18" name="Footer"/>
          <p:cNvSpPr txBox="1"/>
          <p:nvPr/>
        </p:nvSpPr>
        <p:spPr>
          <a:xfrm>
            <a:off x="548640" y="6400800"/>
            <a:ext cx="8229600" cy="274320"/>
          </a:xfrm>
          <a:prstGeom prst="rect">
            <a:avLst/>
          </a:prstGeom>
          <a:noFill/>
        </p:spPr>
        <p:txBody>
          <a:bodyPr wrap="square" lIns="0" tIns="0" rIns="0" bIns="0" anchor="t">
            <a:spAutoFit/>
          </a:bodyPr>
          <a:lstStyle/>
          <a:p>
            <a:pPr algn="l">
              <a:spcAft>
                <a:spcPts val="0"/>
              </a:spcAft>
            </a:pPr>
            <a:r>
              <a:rPr sz="1100" b="0" i="0">
                <a:solidFill>
                  <a:srgbClr val="C9D3E3"/>
                </a:solidFill>
                <a:latin typeface="Calibri"/>
              </a:rPr>
              <a:t>Kapture Batch Jobs - Deployment Options</a:t>
            </a:r>
          </a:p>
        </p:txBody>
      </p:sp>
      <p:sp>
        <p:nvSpPr>
          <p:cNvPr id="19" name="Slide number"/>
          <p:cNvSpPr txBox="1"/>
          <p:nvPr/>
        </p:nvSpPr>
        <p:spPr>
          <a:xfrm>
            <a:off x="10728655" y="6400800"/>
            <a:ext cx="914400" cy="274320"/>
          </a:xfrm>
          <a:prstGeom prst="rect">
            <a:avLst/>
          </a:prstGeom>
          <a:noFill/>
        </p:spPr>
        <p:txBody>
          <a:bodyPr wrap="square" lIns="0" tIns="0" rIns="0" bIns="0" anchor="t">
            <a:spAutoFit/>
          </a:bodyPr>
          <a:lstStyle/>
          <a:p>
            <a:pPr algn="r">
              <a:spcAft>
                <a:spcPts val="0"/>
              </a:spcAft>
            </a:pPr>
            <a:r>
              <a:rPr sz="1100" b="0" i="0">
                <a:solidFill>
                  <a:srgbClr val="C9D3E3"/>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7200"/>
            <a:ext cx="11094415" cy="731520"/>
          </a:xfrm>
          <a:prstGeom prst="rect">
            <a:avLst/>
          </a:prstGeom>
          <a:noFill/>
        </p:spPr>
        <p:txBody>
          <a:bodyPr wrap="square" lIns="0" tIns="0" rIns="0" bIns="0" anchor="ctr">
            <a:spAutoFit/>
          </a:bodyPr>
          <a:lstStyle/>
          <a:p>
            <a:pPr algn="l">
              <a:spcAft>
                <a:spcPts val="0"/>
              </a:spcAft>
            </a:pPr>
            <a:r>
              <a:rPr sz="3400" b="1" i="0">
                <a:solidFill>
                  <a:srgbClr val="14213D"/>
                </a:solidFill>
                <a:latin typeface="Calibri"/>
              </a:rPr>
              <a:t>Next steps</a:t>
            </a:r>
          </a:p>
        </p:txBody>
      </p:sp>
      <p:cxnSp>
        <p:nvCxnSpPr>
          <p:cNvPr id="3" name="Step line"/>
          <p:cNvCxnSpPr/>
          <p:nvPr/>
        </p:nvCxnSpPr>
        <p:spPr>
          <a:xfrm>
            <a:off x="1935441" y="1920240"/>
            <a:ext cx="8320810" cy="0"/>
          </a:xfrm>
          <a:prstGeom prst="line">
            <a:avLst/>
          </a:prstGeom>
          <a:ln w="25400">
            <a:solidFill>
              <a:srgbClr val="D9DEE6"/>
            </a:solidFill>
          </a:ln>
        </p:spPr>
        <p:style>
          <a:lnRef idx="2">
            <a:schemeClr val="accent1"/>
          </a:lnRef>
          <a:fillRef idx="0">
            <a:schemeClr val="accent1"/>
          </a:fillRef>
          <a:effectRef idx="1">
            <a:schemeClr val="accent1"/>
          </a:effectRef>
          <a:fontRef idx="minor">
            <a:schemeClr val="tx1"/>
          </a:fontRef>
        </p:style>
      </p:cxnSp>
      <p:sp>
        <p:nvSpPr>
          <p:cNvPr id="4" name="Step badge 1"/>
          <p:cNvSpPr/>
          <p:nvPr/>
        </p:nvSpPr>
        <p:spPr>
          <a:xfrm>
            <a:off x="1569681" y="1554480"/>
            <a:ext cx="731520" cy="73152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FFFF"/>
                </a:solidFill>
                <a:latin typeface="Calibri"/>
              </a:rPr>
              <a:t>1</a:t>
            </a:r>
          </a:p>
        </p:txBody>
      </p:sp>
      <p:sp>
        <p:nvSpPr>
          <p:cNvPr id="5" name="Step 1 heading"/>
          <p:cNvSpPr txBox="1"/>
          <p:nvPr/>
        </p:nvSpPr>
        <p:spPr>
          <a:xfrm>
            <a:off x="685800" y="2606040"/>
            <a:ext cx="2499283" cy="457200"/>
          </a:xfrm>
          <a:prstGeom prst="rect">
            <a:avLst/>
          </a:prstGeom>
          <a:noFill/>
        </p:spPr>
        <p:txBody>
          <a:bodyPr wrap="square" lIns="0" tIns="0" rIns="0" bIns="0" anchor="t">
            <a:spAutoFit/>
          </a:bodyPr>
          <a:lstStyle/>
          <a:p>
            <a:pPr algn="ctr">
              <a:spcAft>
                <a:spcPts val="0"/>
              </a:spcAft>
            </a:pPr>
            <a:r>
              <a:rPr sz="1900" b="1" i="0">
                <a:solidFill>
                  <a:srgbClr val="14213D"/>
                </a:solidFill>
                <a:latin typeface="Calibri"/>
              </a:rPr>
              <a:t>Confirm the server</a:t>
            </a:r>
          </a:p>
        </p:txBody>
      </p:sp>
      <p:sp>
        <p:nvSpPr>
          <p:cNvPr id="6" name="Step 1 text"/>
          <p:cNvSpPr txBox="1"/>
          <p:nvPr/>
        </p:nvSpPr>
        <p:spPr>
          <a:xfrm>
            <a:off x="685800" y="3108960"/>
            <a:ext cx="2499283" cy="1280160"/>
          </a:xfrm>
          <a:prstGeom prst="rect">
            <a:avLst/>
          </a:prstGeom>
          <a:noFill/>
        </p:spPr>
        <p:txBody>
          <a:bodyPr wrap="square" lIns="0" tIns="0" rIns="0" bIns="0" anchor="t">
            <a:spAutoFit/>
          </a:bodyPr>
          <a:lstStyle/>
          <a:p>
            <a:pPr algn="ctr">
              <a:spcAft>
                <a:spcPts val="0"/>
              </a:spcAft>
            </a:pPr>
            <a:r>
              <a:rPr sz="1500" b="0" i="0">
                <a:solidFill>
                  <a:srgbClr val="4A5568"/>
                </a:solidFill>
                <a:latin typeface="Calibri"/>
              </a:rPr>
              <a:t>Kapture / Infra: host, OS user, install folder; JDK 25 installed</a:t>
            </a:r>
          </a:p>
        </p:txBody>
      </p:sp>
      <p:sp>
        <p:nvSpPr>
          <p:cNvPr id="7" name="Step badge 2"/>
          <p:cNvSpPr/>
          <p:nvPr/>
        </p:nvSpPr>
        <p:spPr>
          <a:xfrm>
            <a:off x="4343284" y="1554480"/>
            <a:ext cx="731520" cy="73152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FFFF"/>
                </a:solidFill>
                <a:latin typeface="Calibri"/>
              </a:rPr>
              <a:t>2</a:t>
            </a:r>
          </a:p>
        </p:txBody>
      </p:sp>
      <p:sp>
        <p:nvSpPr>
          <p:cNvPr id="8" name="Step 2 heading"/>
          <p:cNvSpPr txBox="1"/>
          <p:nvPr/>
        </p:nvSpPr>
        <p:spPr>
          <a:xfrm>
            <a:off x="3459403" y="2606040"/>
            <a:ext cx="2499283" cy="457200"/>
          </a:xfrm>
          <a:prstGeom prst="rect">
            <a:avLst/>
          </a:prstGeom>
          <a:noFill/>
        </p:spPr>
        <p:txBody>
          <a:bodyPr wrap="square" lIns="0" tIns="0" rIns="0" bIns="0" anchor="t">
            <a:spAutoFit/>
          </a:bodyPr>
          <a:lstStyle/>
          <a:p>
            <a:pPr algn="ctr">
              <a:spcAft>
                <a:spcPts val="0"/>
              </a:spcAft>
            </a:pPr>
            <a:r>
              <a:rPr sz="1900" b="1" i="0">
                <a:solidFill>
                  <a:srgbClr val="14213D"/>
                </a:solidFill>
                <a:latin typeface="Calibri"/>
              </a:rPr>
              <a:t>Agree run times</a:t>
            </a:r>
          </a:p>
        </p:txBody>
      </p:sp>
      <p:sp>
        <p:nvSpPr>
          <p:cNvPr id="9" name="Step 2 text"/>
          <p:cNvSpPr txBox="1"/>
          <p:nvPr/>
        </p:nvSpPr>
        <p:spPr>
          <a:xfrm>
            <a:off x="3459403" y="3108960"/>
            <a:ext cx="2499283" cy="1280160"/>
          </a:xfrm>
          <a:prstGeom prst="rect">
            <a:avLst/>
          </a:prstGeom>
          <a:noFill/>
        </p:spPr>
        <p:txBody>
          <a:bodyPr wrap="square" lIns="0" tIns="0" rIns="0" bIns="0" anchor="t">
            <a:spAutoFit/>
          </a:bodyPr>
          <a:lstStyle/>
          <a:p>
            <a:pPr algn="ctr">
              <a:spcAft>
                <a:spcPts val="0"/>
              </a:spcAft>
            </a:pPr>
            <a:r>
              <a:rPr sz="1500" b="0" i="0">
                <a:solidFill>
                  <a:srgbClr val="4A5568"/>
                </a:solidFill>
                <a:latin typeface="Calibri"/>
              </a:rPr>
              <a:t>One time per job; today's schedules are placeholders</a:t>
            </a:r>
          </a:p>
        </p:txBody>
      </p:sp>
      <p:sp>
        <p:nvSpPr>
          <p:cNvPr id="10" name="Step badge 3"/>
          <p:cNvSpPr/>
          <p:nvPr/>
        </p:nvSpPr>
        <p:spPr>
          <a:xfrm>
            <a:off x="7116887" y="1554480"/>
            <a:ext cx="731520" cy="73152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FFFF"/>
                </a:solidFill>
                <a:latin typeface="Calibri"/>
              </a:rPr>
              <a:t>3</a:t>
            </a:r>
          </a:p>
        </p:txBody>
      </p:sp>
      <p:sp>
        <p:nvSpPr>
          <p:cNvPr id="11" name="Step 3 heading"/>
          <p:cNvSpPr txBox="1"/>
          <p:nvPr/>
        </p:nvSpPr>
        <p:spPr>
          <a:xfrm>
            <a:off x="6233006" y="2606040"/>
            <a:ext cx="2499283" cy="457200"/>
          </a:xfrm>
          <a:prstGeom prst="rect">
            <a:avLst/>
          </a:prstGeom>
          <a:noFill/>
        </p:spPr>
        <p:txBody>
          <a:bodyPr wrap="square" lIns="0" tIns="0" rIns="0" bIns="0" anchor="t">
            <a:spAutoFit/>
          </a:bodyPr>
          <a:lstStyle/>
          <a:p>
            <a:pPr algn="ctr">
              <a:spcAft>
                <a:spcPts val="0"/>
              </a:spcAft>
            </a:pPr>
            <a:r>
              <a:rPr sz="1900" b="1" i="0">
                <a:solidFill>
                  <a:srgbClr val="14213D"/>
                </a:solidFill>
                <a:latin typeface="Calibri"/>
              </a:rPr>
              <a:t>Deploy on MC Dev</a:t>
            </a:r>
          </a:p>
        </p:txBody>
      </p:sp>
      <p:sp>
        <p:nvSpPr>
          <p:cNvPr id="12" name="Step 3 text"/>
          <p:cNvSpPr txBox="1"/>
          <p:nvPr/>
        </p:nvSpPr>
        <p:spPr>
          <a:xfrm>
            <a:off x="6233006" y="3108960"/>
            <a:ext cx="2499283" cy="1280160"/>
          </a:xfrm>
          <a:prstGeom prst="rect">
            <a:avLst/>
          </a:prstGeom>
          <a:noFill/>
        </p:spPr>
        <p:txBody>
          <a:bodyPr wrap="square" lIns="0" tIns="0" rIns="0" bIns="0" anchor="t">
            <a:spAutoFit/>
          </a:bodyPr>
          <a:lstStyle/>
          <a:p>
            <a:pPr algn="ctr">
              <a:spcAft>
                <a:spcPts val="0"/>
              </a:spcAft>
            </a:pPr>
            <a:r>
              <a:rPr sz="1500" b="0" i="0">
                <a:solidFill>
                  <a:srgbClr val="4A5568"/>
                </a:solidFill>
                <a:latin typeface="Calibri"/>
              </a:rPr>
              <a:t>Unzip the 8 packages, set passwords, run each once, check history and mails</a:t>
            </a:r>
          </a:p>
        </p:txBody>
      </p:sp>
      <p:sp>
        <p:nvSpPr>
          <p:cNvPr id="13" name="Step badge 4"/>
          <p:cNvSpPr/>
          <p:nvPr/>
        </p:nvSpPr>
        <p:spPr>
          <a:xfrm>
            <a:off x="9890490" y="1554480"/>
            <a:ext cx="731520" cy="73152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FFFF"/>
                </a:solidFill>
                <a:latin typeface="Calibri"/>
              </a:rPr>
              <a:t>4</a:t>
            </a:r>
          </a:p>
        </p:txBody>
      </p:sp>
      <p:sp>
        <p:nvSpPr>
          <p:cNvPr id="14" name="Step 4 heading"/>
          <p:cNvSpPr txBox="1"/>
          <p:nvPr/>
        </p:nvSpPr>
        <p:spPr>
          <a:xfrm>
            <a:off x="9006609" y="2606040"/>
            <a:ext cx="2499283" cy="457200"/>
          </a:xfrm>
          <a:prstGeom prst="rect">
            <a:avLst/>
          </a:prstGeom>
          <a:noFill/>
        </p:spPr>
        <p:txBody>
          <a:bodyPr wrap="square" lIns="0" tIns="0" rIns="0" bIns="0" anchor="t">
            <a:spAutoFit/>
          </a:bodyPr>
          <a:lstStyle/>
          <a:p>
            <a:pPr algn="ctr">
              <a:spcAft>
                <a:spcPts val="0"/>
              </a:spcAft>
            </a:pPr>
            <a:r>
              <a:rPr sz="1900" b="1" i="0">
                <a:solidFill>
                  <a:srgbClr val="14213D"/>
                </a:solidFill>
                <a:latin typeface="Calibri"/>
              </a:rPr>
              <a:t>Schedule and promote</a:t>
            </a:r>
          </a:p>
        </p:txBody>
      </p:sp>
      <p:sp>
        <p:nvSpPr>
          <p:cNvPr id="15" name="Step 4 text"/>
          <p:cNvSpPr txBox="1"/>
          <p:nvPr/>
        </p:nvSpPr>
        <p:spPr>
          <a:xfrm>
            <a:off x="9006609" y="3108960"/>
            <a:ext cx="2499283" cy="1280160"/>
          </a:xfrm>
          <a:prstGeom prst="rect">
            <a:avLst/>
          </a:prstGeom>
          <a:noFill/>
        </p:spPr>
        <p:txBody>
          <a:bodyPr wrap="square" lIns="0" tIns="0" rIns="0" bIns="0" anchor="t">
            <a:spAutoFit/>
          </a:bodyPr>
          <a:lstStyle/>
          <a:p>
            <a:pPr algn="ctr">
              <a:spcAft>
                <a:spcPts val="0"/>
              </a:spcAft>
            </a:pPr>
            <a:r>
              <a:rPr sz="1500" b="0" i="0">
                <a:solidFill>
                  <a:srgbClr val="4A5568"/>
                </a:solidFill>
                <a:latin typeface="Calibri"/>
              </a:rPr>
              <a:t>Add the crontab entries; repeat for MC QA and PROD</a:t>
            </a:r>
          </a:p>
        </p:txBody>
      </p:sp>
      <p:sp>
        <p:nvSpPr>
          <p:cNvPr id="16" name="Decision band"/>
          <p:cNvSpPr/>
          <p:nvPr/>
        </p:nvSpPr>
        <p:spPr>
          <a:xfrm>
            <a:off x="548640" y="4892040"/>
            <a:ext cx="11094415" cy="914400"/>
          </a:xfrm>
          <a:prstGeom prst="roundRect">
            <a:avLst>
              <a:gd name="adj" fmla="val 12000"/>
            </a:avLst>
          </a:prstGeom>
          <a:solidFill>
            <a:srgbClr val="FC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Decision"/>
          <p:cNvSpPr txBox="1"/>
          <p:nvPr/>
        </p:nvSpPr>
        <p:spPr>
          <a:xfrm>
            <a:off x="868680" y="4892040"/>
            <a:ext cx="10454335" cy="914400"/>
          </a:xfrm>
          <a:prstGeom prst="rect">
            <a:avLst/>
          </a:prstGeom>
          <a:noFill/>
        </p:spPr>
        <p:txBody>
          <a:bodyPr wrap="square" lIns="0" tIns="0" rIns="0" bIns="0" anchor="ctr">
            <a:spAutoFit/>
          </a:bodyPr>
          <a:lstStyle/>
          <a:p>
            <a:pPr algn="l">
              <a:spcAft>
                <a:spcPts val="0"/>
              </a:spcAft>
            </a:pPr>
            <a:r>
              <a:rPr sz="1900" b="1" i="0">
                <a:solidFill>
                  <a:srgbClr val="C8551E"/>
                </a:solidFill>
                <a:latin typeface="Calibri"/>
              </a:rPr>
              <a:t>Decision needed: confirm Option 2 as the deployment approach for the 8 batch jobs.</a:t>
            </a:r>
          </a:p>
        </p:txBody>
      </p:sp>
      <p:sp>
        <p:nvSpPr>
          <p:cNvPr id="18" name="Footer"/>
          <p:cNvSpPr txBox="1"/>
          <p:nvPr/>
        </p:nvSpPr>
        <p:spPr>
          <a:xfrm>
            <a:off x="548640" y="6400800"/>
            <a:ext cx="8229600" cy="274320"/>
          </a:xfrm>
          <a:prstGeom prst="rect">
            <a:avLst/>
          </a:prstGeom>
          <a:noFill/>
        </p:spPr>
        <p:txBody>
          <a:bodyPr wrap="square" lIns="0" tIns="0" rIns="0" bIns="0" anchor="t">
            <a:spAutoFit/>
          </a:bodyPr>
          <a:lstStyle/>
          <a:p>
            <a:pPr algn="l">
              <a:spcAft>
                <a:spcPts val="0"/>
              </a:spcAft>
            </a:pPr>
            <a:r>
              <a:rPr sz="1100" b="0" i="0">
                <a:solidFill>
                  <a:srgbClr val="4A5568"/>
                </a:solidFill>
                <a:latin typeface="Calibri"/>
              </a:rPr>
              <a:t>Kapture Batch Jobs - Deployment Options</a:t>
            </a:r>
          </a:p>
        </p:txBody>
      </p:sp>
      <p:sp>
        <p:nvSpPr>
          <p:cNvPr id="19" name="Slide number"/>
          <p:cNvSpPr txBox="1"/>
          <p:nvPr/>
        </p:nvSpPr>
        <p:spPr>
          <a:xfrm>
            <a:off x="10728655" y="6400800"/>
            <a:ext cx="914400" cy="274320"/>
          </a:xfrm>
          <a:prstGeom prst="rect">
            <a:avLst/>
          </a:prstGeom>
          <a:noFill/>
        </p:spPr>
        <p:txBody>
          <a:bodyPr wrap="square" lIns="0" tIns="0" rIns="0" bIns="0" anchor="t">
            <a:spAutoFit/>
          </a:bodyPr>
          <a:lstStyle/>
          <a:p>
            <a:pPr algn="r">
              <a:spcAft>
                <a:spcPts val="0"/>
              </a:spcAft>
            </a:pPr>
            <a:r>
              <a:rPr sz="1100" b="0" i="0">
                <a:solidFill>
                  <a:srgbClr val="4A5568"/>
                </a:solidFill>
                <a:latin typeface="Calibri"/>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1411</Words>
  <Application>Microsoft Office PowerPoint</Application>
  <PresentationFormat>Widescreen</PresentationFormat>
  <Paragraphs>168</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Kapture Batch Jobs - Deployment Options</dc:title>
  <dc:subject>Deployment options for the Kapture batch jobs</dc:subject>
  <dc:creator/>
  <cp:keywords/>
  <dc:description>generated using python-pptx</dc:description>
  <cp:lastModifiedBy>Vishal Dabkara</cp:lastModifiedBy>
  <cp:revision>1</cp:revision>
  <dcterms:created xsi:type="dcterms:W3CDTF">2013-01-27T09:14:16Z</dcterms:created>
  <dcterms:modified xsi:type="dcterms:W3CDTF">2026-10-28T16:03:07Z</dcterms:modified>
  <cp:category/>
</cp:coreProperties>
</file>